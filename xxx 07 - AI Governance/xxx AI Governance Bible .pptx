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4"/>
  </p:notesMasterIdLst>
  <p:sldIdLst>
    <p:sldId id="256" r:id="rId3"/>
    <p:sldId id="257" r:id="rId4"/>
    <p:sldId id="259" r:id="rId5"/>
    <p:sldId id="271" r:id="rId6"/>
    <p:sldId id="272" r:id="rId7"/>
    <p:sldId id="270" r:id="rId8"/>
    <p:sldId id="258" r:id="rId9"/>
    <p:sldId id="273" r:id="rId10"/>
    <p:sldId id="286"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99"/>
    <p:restoredTop sz="71851"/>
  </p:normalViewPr>
  <p:slideViewPr>
    <p:cSldViewPr snapToGrid="0">
      <p:cViewPr varScale="1">
        <p:scale>
          <a:sx n="100" d="100"/>
          <a:sy n="100" d="100"/>
        </p:scale>
        <p:origin x="736"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8E2542-FD54-124A-857D-5971ED37D2B6}" type="datetimeFigureOut">
              <a:rPr lang="en-US" smtClean="0"/>
              <a:t>2/23/26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C10334-31E2-8E44-8C48-E3876023BF43}" type="slidenum">
              <a:rPr lang="en-US" smtClean="0"/>
              <a:t>‹#›</a:t>
            </a:fld>
            <a:endParaRPr lang="en-US"/>
          </a:p>
        </p:txBody>
      </p:sp>
    </p:spTree>
    <p:extLst>
      <p:ext uri="{BB962C8B-B14F-4D97-AF65-F5344CB8AC3E}">
        <p14:creationId xmlns:p14="http://schemas.microsoft.com/office/powerpoint/2010/main" val="2661445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How to start an AI governance presentation (impactful “why”)</a:t>
            </a:r>
          </a:p>
          <a:p>
            <a:r>
              <a:rPr lang="en-GB" dirty="0"/>
              <a:t>Your opener should </a:t>
            </a:r>
            <a:r>
              <a:rPr lang="en-GB" b="1" dirty="0"/>
              <a:t>reframe governance as a speed enabler</a:t>
            </a:r>
            <a:r>
              <a:rPr lang="en-GB" dirty="0"/>
              <a:t>, not a brake.</a:t>
            </a:r>
          </a:p>
          <a:p>
            <a:r>
              <a:rPr lang="en-GB" b="1" dirty="0"/>
              <a:t>The 45-second cold open (script)</a:t>
            </a:r>
          </a:p>
          <a:p>
            <a:r>
              <a:rPr lang="en-GB" dirty="0"/>
              <a:t>“AI isn’t just software that can be wrong.</a:t>
            </a:r>
            <a:br>
              <a:rPr lang="en-GB" dirty="0"/>
            </a:br>
            <a:r>
              <a:rPr lang="en-GB" dirty="0"/>
              <a:t>It’s software that can be </a:t>
            </a:r>
            <a:r>
              <a:rPr lang="en-GB" i="1" dirty="0"/>
              <a:t>confidently wrong</a:t>
            </a:r>
            <a:r>
              <a:rPr lang="en-GB" dirty="0"/>
              <a:t>, and now it can </a:t>
            </a:r>
            <a:r>
              <a:rPr lang="en-GB" i="1" dirty="0"/>
              <a:t>act</a:t>
            </a:r>
            <a:r>
              <a:rPr lang="en-GB" dirty="0"/>
              <a:t>—call tools, move money, change customer experiences, leak data—at machine speed.</a:t>
            </a:r>
            <a:br>
              <a:rPr lang="en-GB" dirty="0"/>
            </a:br>
            <a:r>
              <a:rPr lang="en-GB" b="1" dirty="0"/>
              <a:t>So the core problem isn’t accuracy. It’s the AI’s action radius.</a:t>
            </a:r>
            <a:br>
              <a:rPr lang="en-GB" dirty="0"/>
            </a:br>
            <a:r>
              <a:rPr lang="en-GB" dirty="0"/>
              <a:t>AI governance is how we keep the action radius bounded while still shipping fast.”</a:t>
            </a:r>
          </a:p>
          <a:p>
            <a:r>
              <a:rPr lang="en-GB" b="1" dirty="0"/>
              <a:t>Then hit the thesis (one sentence)</a:t>
            </a:r>
          </a:p>
          <a:p>
            <a:r>
              <a:rPr lang="en-GB" dirty="0"/>
              <a:t>“</a:t>
            </a:r>
            <a:r>
              <a:rPr lang="en-GB" b="1" dirty="0"/>
              <a:t>Governance is how we scale AI velocity with bounded risk and auditable control.</a:t>
            </a:r>
            <a:endParaRPr lang="en-GB" dirty="0"/>
          </a:p>
          <a:p>
            <a:endParaRPr lang="en-US" dirty="0"/>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2</a:t>
            </a:fld>
            <a:endParaRPr lang="en-US"/>
          </a:p>
        </p:txBody>
      </p:sp>
    </p:spTree>
    <p:extLst>
      <p:ext uri="{BB962C8B-B14F-4D97-AF65-F5344CB8AC3E}">
        <p14:creationId xmlns:p14="http://schemas.microsoft.com/office/powerpoint/2010/main" val="1100346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5</a:t>
            </a:fld>
            <a:endParaRPr lang="en-US"/>
          </a:p>
        </p:txBody>
      </p:sp>
    </p:spTree>
    <p:extLst>
      <p:ext uri="{BB962C8B-B14F-4D97-AF65-F5344CB8AC3E}">
        <p14:creationId xmlns:p14="http://schemas.microsoft.com/office/powerpoint/2010/main" val="4033522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“so what?” after 2–3 stories. It converts anecdotes into an operating system.
[Sources]
- OWASP LLM Top 10 (risk taxonomy used to inform common control categories): https://owasp.org/www-project-top-10-for-large-language-model-applications/
- UK NCSC prompt injection framing (runtime enforcement emphasis): https://www.ncsc.gov.uk/blog-post/prompt-injection-is-not-sql-injection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 first 5 slides (minimal, high-impact)</a:t>
            </a:r>
          </a:p>
          <a:p>
            <a:r>
              <a:rPr lang="en-GB" b="1" dirty="0"/>
              <a:t>Title + thesis</a:t>
            </a:r>
            <a:r>
              <a:rPr lang="en-GB" dirty="0"/>
              <a:t>: “Scaling AI with bounded risk”</a:t>
            </a:r>
          </a:p>
          <a:p>
            <a:r>
              <a:rPr lang="en-GB" b="1" dirty="0"/>
              <a:t>Action radius diagram</a:t>
            </a:r>
            <a:r>
              <a:rPr lang="en-GB" dirty="0"/>
              <a:t>: Model → tools → data → users → money (show blast radius)</a:t>
            </a:r>
          </a:p>
          <a:p>
            <a:r>
              <a:rPr lang="en-GB" b="1" dirty="0"/>
              <a:t>What governance is / isn’t</a:t>
            </a:r>
            <a:r>
              <a:rPr lang="en-GB" dirty="0"/>
              <a:t> (1 slide: not bureaucracy; it’s operating discipline)</a:t>
            </a:r>
          </a:p>
          <a:p>
            <a:r>
              <a:rPr lang="en-GB" b="1" dirty="0"/>
              <a:t>Lifecycle gates</a:t>
            </a:r>
            <a:r>
              <a:rPr lang="en-GB" dirty="0"/>
              <a:t>: Ideation → Build/Buy → Eval → Deploy → Run → Incident → Retire</a:t>
            </a:r>
          </a:p>
          <a:p>
            <a:r>
              <a:rPr lang="en-GB" b="1" dirty="0"/>
              <a:t>Your governance primitives</a:t>
            </a:r>
            <a:r>
              <a:rPr lang="en-GB" dirty="0"/>
              <a:t>: policies, permissions, eval thresholds, audit evidence</a:t>
            </a:r>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7</a:t>
            </a:fld>
            <a:endParaRPr lang="en-US"/>
          </a:p>
        </p:txBody>
      </p:sp>
    </p:spTree>
    <p:extLst>
      <p:ext uri="{BB962C8B-B14F-4D97-AF65-F5344CB8AC3E}">
        <p14:creationId xmlns:p14="http://schemas.microsoft.com/office/powerpoint/2010/main" val="857312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“safety” must be operationalised as measurable requirements tied to explicit risk scenarios and evaluation sets, not as an undifferentiated global filter.</a:t>
            </a:r>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8</a:t>
            </a:fld>
            <a:endParaRPr lang="en-US"/>
          </a:p>
        </p:txBody>
      </p:sp>
    </p:spTree>
    <p:extLst>
      <p:ext uri="{BB962C8B-B14F-4D97-AF65-F5344CB8AC3E}">
        <p14:creationId xmlns:p14="http://schemas.microsoft.com/office/powerpoint/2010/main" val="4276767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CC10334-31E2-8E44-8C48-E3876023BF43}" type="slidenum">
              <a:rPr lang="en-US" smtClean="0"/>
              <a:t>9</a:t>
            </a:fld>
            <a:endParaRPr lang="en-US"/>
          </a:p>
        </p:txBody>
      </p:sp>
    </p:spTree>
    <p:extLst>
      <p:ext uri="{BB962C8B-B14F-4D97-AF65-F5344CB8AC3E}">
        <p14:creationId xmlns:p14="http://schemas.microsoft.com/office/powerpoint/2010/main" val="3317010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a:t>
            </a:r>
          </a:p>
          <a:p>
            <a:r>
              <a:rPr lang="en-GB" sz="1200" kern="1200" dirty="0">
                <a:solidFill>
                  <a:schemeClr val="tx1"/>
                </a:solidFill>
                <a:effectLst/>
                <a:latin typeface="+mn-lt"/>
                <a:ea typeface="+mn-ea"/>
                <a:cs typeface="+mn-cs"/>
              </a:rPr>
              <a:t>System governance (end-to-end): governance for the application (chatbot/agent/workflow), not</a:t>
            </a:r>
          </a:p>
          <a:p>
            <a:r>
              <a:rPr lang="en-GB" sz="1200" kern="1200" dirty="0">
                <a:solidFill>
                  <a:schemeClr val="tx1"/>
                </a:solidFill>
                <a:effectLst/>
                <a:latin typeface="+mn-lt"/>
                <a:ea typeface="+mn-ea"/>
                <a:cs typeface="+mn-cs"/>
              </a:rPr>
              <a:t>merely the base model. This is where prompt injection, insecure tool use, and data leakage</a:t>
            </a:r>
          </a:p>
          <a:p>
            <a:r>
              <a:rPr lang="en-GB" sz="1200" kern="1200" dirty="0">
                <a:solidFill>
                  <a:schemeClr val="tx1"/>
                </a:solidFill>
                <a:effectLst/>
                <a:latin typeface="+mn-lt"/>
                <a:ea typeface="+mn-ea"/>
                <a:cs typeface="+mn-cs"/>
              </a:rPr>
              <a:t>occur.</a:t>
            </a:r>
          </a:p>
          <a:p>
            <a:r>
              <a:rPr lang="en-GB" sz="1200" kern="1200" dirty="0">
                <a:solidFill>
                  <a:schemeClr val="tx1"/>
                </a:solidFill>
                <a:effectLst/>
                <a:latin typeface="+mn-lt"/>
                <a:ea typeface="+mn-ea"/>
                <a:cs typeface="+mn-cs"/>
              </a:rPr>
              <a:t>8</a:t>
            </a:r>
          </a:p>
          <a:p>
            <a:r>
              <a:rPr lang="en-GB" sz="1200" kern="1200" dirty="0">
                <a:solidFill>
                  <a:schemeClr val="tx1"/>
                </a:solidFill>
                <a:effectLst/>
                <a:latin typeface="+mn-lt"/>
                <a:ea typeface="+mn-ea"/>
                <a:cs typeface="+mn-cs"/>
              </a:rPr>
              <a:t>Model governance: selection, fine-tuning, post‑training, evaluation, release, and deprecation;</a:t>
            </a:r>
          </a:p>
          <a:p>
            <a:r>
              <a:rPr lang="en-GB" sz="1200" kern="1200" dirty="0">
                <a:solidFill>
                  <a:schemeClr val="tx1"/>
                </a:solidFill>
                <a:effectLst/>
                <a:latin typeface="+mn-lt"/>
                <a:ea typeface="+mn-ea"/>
                <a:cs typeface="+mn-cs"/>
              </a:rPr>
              <a:t>documentation via model/system cards and safety frameworks.</a:t>
            </a:r>
          </a:p>
          <a:p>
            <a:r>
              <a:rPr lang="en-GB" sz="1200" kern="1200" dirty="0">
                <a:solidFill>
                  <a:schemeClr val="tx1"/>
                </a:solidFill>
                <a:effectLst/>
                <a:latin typeface="+mn-lt"/>
                <a:ea typeface="+mn-ea"/>
                <a:cs typeface="+mn-cs"/>
              </a:rPr>
              <a:t>9</a:t>
            </a:r>
          </a:p>
          <a:p>
            <a:r>
              <a:rPr lang="en-GB" sz="1200" kern="1200" dirty="0">
                <a:solidFill>
                  <a:schemeClr val="tx1"/>
                </a:solidFill>
                <a:effectLst/>
                <a:latin typeface="+mn-lt"/>
                <a:ea typeface="+mn-ea"/>
                <a:cs typeface="+mn-cs"/>
              </a:rPr>
              <a:t>Data governance: training data provenance and legality; personal data controls; sensitive data</a:t>
            </a:r>
          </a:p>
          <a:p>
            <a:r>
              <a:rPr lang="en-GB" sz="1200" kern="1200" dirty="0">
                <a:solidFill>
                  <a:schemeClr val="tx1"/>
                </a:solidFill>
                <a:effectLst/>
                <a:latin typeface="+mn-lt"/>
                <a:ea typeface="+mn-ea"/>
                <a:cs typeface="+mn-cs"/>
              </a:rPr>
              <a:t>access; dataset documentation (datasheets) and quality measures.</a:t>
            </a:r>
          </a:p>
          <a:p>
            <a:r>
              <a:rPr lang="en-GB" sz="1200" kern="1200" dirty="0">
                <a:solidFill>
                  <a:schemeClr val="tx1"/>
                </a:solidFill>
                <a:effectLst/>
                <a:latin typeface="+mn-lt"/>
                <a:ea typeface="+mn-ea"/>
                <a:cs typeface="+mn-cs"/>
              </a:rPr>
              <a:t>10</a:t>
            </a:r>
          </a:p>
          <a:p>
            <a:r>
              <a:rPr lang="en-GB" sz="1200" kern="1200" dirty="0">
                <a:solidFill>
                  <a:schemeClr val="tx1"/>
                </a:solidFill>
                <a:effectLst/>
                <a:latin typeface="+mn-lt"/>
                <a:ea typeface="+mn-ea"/>
                <a:cs typeface="+mn-cs"/>
              </a:rPr>
              <a:t>Operational governance: monitoring, logging, incident response, reliability engineering, and</a:t>
            </a:r>
          </a:p>
          <a:p>
            <a:r>
              <a:rPr lang="en-GB" sz="1200" kern="1200" dirty="0">
                <a:solidFill>
                  <a:schemeClr val="tx1"/>
                </a:solidFill>
                <a:effectLst/>
                <a:latin typeface="+mn-lt"/>
                <a:ea typeface="+mn-ea"/>
                <a:cs typeface="+mn-cs"/>
              </a:rPr>
              <a:t>cost controls in production.</a:t>
            </a:r>
          </a:p>
          <a:p>
            <a:r>
              <a:rPr lang="en-GB" sz="1200" kern="1200" dirty="0">
                <a:solidFill>
                  <a:schemeClr val="tx1"/>
                </a:solidFill>
                <a:effectLst/>
                <a:latin typeface="+mn-lt"/>
                <a:ea typeface="+mn-ea"/>
                <a:cs typeface="+mn-cs"/>
              </a:rPr>
              <a:t>11</a:t>
            </a:r>
          </a:p>
          <a:p>
            <a:r>
              <a:rPr lang="en-GB" sz="1200" kern="1200" dirty="0">
                <a:solidFill>
                  <a:schemeClr val="tx1"/>
                </a:solidFill>
                <a:effectLst/>
                <a:latin typeface="+mn-lt"/>
                <a:ea typeface="+mn-ea"/>
                <a:cs typeface="+mn-cs"/>
              </a:rPr>
              <a:t>Supply-chain governance: software and model dependency transparency and integrity (SBOM/</a:t>
            </a:r>
          </a:p>
          <a:p>
            <a:r>
              <a:rPr lang="en-GB" sz="1200" kern="1200" dirty="0">
                <a:solidFill>
                  <a:schemeClr val="tx1"/>
                </a:solidFill>
                <a:effectLst/>
                <a:latin typeface="+mn-lt"/>
                <a:ea typeface="+mn-ea"/>
                <a:cs typeface="+mn-cs"/>
              </a:rPr>
              <a:t>attestations, SLSA provenance, AI/ML BOM concepts)</a:t>
            </a: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11</a:t>
            </a:fld>
            <a:endParaRPr lang="en-US"/>
          </a:p>
        </p:txBody>
      </p:sp>
    </p:spTree>
    <p:extLst>
      <p:ext uri="{BB962C8B-B14F-4D97-AF65-F5344CB8AC3E}">
        <p14:creationId xmlns:p14="http://schemas.microsoft.com/office/powerpoint/2010/main" val="2719720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Business implications: evaluation gates are a direct cost (compute, staff time) but reduce incident</a:t>
            </a:r>
          </a:p>
          <a:p>
            <a:r>
              <a:rPr lang="en-GB" sz="1200" kern="1200" dirty="0">
                <a:solidFill>
                  <a:schemeClr val="tx1"/>
                </a:solidFill>
                <a:effectLst/>
                <a:latin typeface="+mn-lt"/>
                <a:ea typeface="+mn-ea"/>
                <a:cs typeface="+mn-cs"/>
              </a:rPr>
              <a:t>frequency and improve product stability; they also become part of compliance evidence (especially as</a:t>
            </a:r>
          </a:p>
          <a:p>
            <a:r>
              <a:rPr lang="en-GB" sz="1200" kern="1200" dirty="0">
                <a:solidFill>
                  <a:schemeClr val="tx1"/>
                </a:solidFill>
                <a:effectLst/>
                <a:latin typeface="+mn-lt"/>
                <a:ea typeface="+mn-ea"/>
                <a:cs typeface="+mn-cs"/>
              </a:rPr>
              <a:t>GPAI documentation and testing expectations consolidate)</a:t>
            </a:r>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16</a:t>
            </a:fld>
            <a:endParaRPr lang="en-US"/>
          </a:p>
        </p:txBody>
      </p:sp>
    </p:spTree>
    <p:extLst>
      <p:ext uri="{BB962C8B-B14F-4D97-AF65-F5344CB8AC3E}">
        <p14:creationId xmlns:p14="http://schemas.microsoft.com/office/powerpoint/2010/main" val="3240491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Implementation patterns: define an explicit “alignment constitution” for the organisation (policy</a:t>
            </a:r>
          </a:p>
          <a:p>
            <a:r>
              <a:rPr lang="en-GB" sz="1200" kern="1200" dirty="0">
                <a:solidFill>
                  <a:schemeClr val="tx1"/>
                </a:solidFill>
                <a:effectLst/>
                <a:latin typeface="+mn-lt"/>
                <a:ea typeface="+mn-ea"/>
                <a:cs typeface="+mn-cs"/>
              </a:rPr>
              <a:t>principles, prohibited behaviours) and use it consistently across </a:t>
            </a:r>
            <a:r>
              <a:rPr lang="en-GB" sz="1200" kern="1200" dirty="0" err="1">
                <a:solidFill>
                  <a:schemeClr val="tx1"/>
                </a:solidFill>
                <a:effectLst/>
                <a:latin typeface="+mn-lt"/>
                <a:ea typeface="+mn-ea"/>
                <a:cs typeface="+mn-cs"/>
              </a:rPr>
              <a:t>labeler</a:t>
            </a:r>
            <a:r>
              <a:rPr lang="en-GB" sz="1200" kern="1200" dirty="0">
                <a:solidFill>
                  <a:schemeClr val="tx1"/>
                </a:solidFill>
                <a:effectLst/>
                <a:latin typeface="+mn-lt"/>
                <a:ea typeface="+mn-ea"/>
                <a:cs typeface="+mn-cs"/>
              </a:rPr>
              <a:t> guidelines, preference</a:t>
            </a:r>
          </a:p>
          <a:p>
            <a:r>
              <a:rPr lang="en-GB" sz="1200" kern="1200" dirty="0">
                <a:solidFill>
                  <a:schemeClr val="tx1"/>
                </a:solidFill>
                <a:effectLst/>
                <a:latin typeface="+mn-lt"/>
                <a:ea typeface="+mn-ea"/>
                <a:cs typeface="+mn-cs"/>
              </a:rPr>
              <a:t>aggregation, and safety evaluation. Maintain governance around: rater selection, annotation quality,</a:t>
            </a:r>
          </a:p>
          <a:p>
            <a:r>
              <a:rPr lang="en-GB" sz="1200" kern="1200" dirty="0">
                <a:solidFill>
                  <a:schemeClr val="tx1"/>
                </a:solidFill>
                <a:effectLst/>
                <a:latin typeface="+mn-lt"/>
                <a:ea typeface="+mn-ea"/>
                <a:cs typeface="+mn-cs"/>
              </a:rPr>
              <a:t>demographic coverage, and post‑training change management.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Trade-offs: alignment techniques can incur an “alignment tax” (compute, data, and potential capability</a:t>
            </a:r>
          </a:p>
          <a:p>
            <a:r>
              <a:rPr lang="en-GB" sz="1200" kern="1200" dirty="0">
                <a:solidFill>
                  <a:schemeClr val="tx1"/>
                </a:solidFill>
                <a:effectLst/>
                <a:latin typeface="+mn-lt"/>
                <a:ea typeface="+mn-ea"/>
                <a:cs typeface="+mn-cs"/>
              </a:rPr>
              <a:t>regressions), but reduce safety risk and harmful outputs. Governance should treat alignment as an</a:t>
            </a:r>
          </a:p>
          <a:p>
            <a:r>
              <a:rPr lang="en-GB" sz="1200" kern="1200" dirty="0">
                <a:solidFill>
                  <a:schemeClr val="tx1"/>
                </a:solidFill>
                <a:effectLst/>
                <a:latin typeface="+mn-lt"/>
                <a:ea typeface="+mn-ea"/>
                <a:cs typeface="+mn-cs"/>
              </a:rPr>
              <a:t>engineered optimisation problem with explicit constraints, not a black box.</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8Metrics: preference-model agreement consistency, safety constraint satisfaction, and downstream</a:t>
            </a:r>
          </a:p>
          <a:p>
            <a:r>
              <a:rPr lang="en-GB" sz="1200" kern="1200" dirty="0">
                <a:solidFill>
                  <a:schemeClr val="tx1"/>
                </a:solidFill>
                <a:effectLst/>
                <a:latin typeface="+mn-lt"/>
                <a:ea typeface="+mn-ea"/>
                <a:cs typeface="+mn-cs"/>
              </a:rPr>
              <a:t>harmful-output reduction without unacceptable utility loss.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Business implications: alignment governance influences product liability, trust, and adoption; it also</a:t>
            </a:r>
          </a:p>
          <a:p>
            <a:r>
              <a:rPr lang="en-GB" sz="1200" kern="1200" dirty="0">
                <a:solidFill>
                  <a:schemeClr val="tx1"/>
                </a:solidFill>
                <a:effectLst/>
                <a:latin typeface="+mn-lt"/>
                <a:ea typeface="+mn-ea"/>
                <a:cs typeface="+mn-cs"/>
              </a:rPr>
              <a:t>becomes part of frontier risk frameworks (e.g., responsible scaling policies).</a:t>
            </a:r>
          </a:p>
          <a:p>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20</a:t>
            </a:fld>
            <a:endParaRPr lang="en-US"/>
          </a:p>
        </p:txBody>
      </p:sp>
    </p:spTree>
    <p:extLst>
      <p:ext uri="{BB962C8B-B14F-4D97-AF65-F5344CB8AC3E}">
        <p14:creationId xmlns:p14="http://schemas.microsoft.com/office/powerpoint/2010/main" val="649880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Implementation patterns:</a:t>
            </a:r>
          </a:p>
          <a:p>
            <a:r>
              <a:rPr lang="en-GB" sz="1200" kern="1200" dirty="0">
                <a:solidFill>
                  <a:schemeClr val="tx1"/>
                </a:solidFill>
                <a:effectLst/>
                <a:latin typeface="+mn-lt"/>
                <a:ea typeface="+mn-ea"/>
                <a:cs typeface="+mn-cs"/>
              </a:rPr>
              <a:t>- Use SBOM + attestations (provenance) and integrate them into CI pipelines.</a:t>
            </a:r>
          </a:p>
          <a:p>
            <a:r>
              <a:rPr lang="en-GB" sz="1200" kern="1200" dirty="0">
                <a:solidFill>
                  <a:schemeClr val="tx1"/>
                </a:solidFill>
                <a:effectLst/>
                <a:latin typeface="+mn-lt"/>
                <a:ea typeface="+mn-ea"/>
                <a:cs typeface="+mn-cs"/>
              </a:rPr>
              <a:t>71</a:t>
            </a:r>
          </a:p>
          <a:p>
            <a:r>
              <a:rPr lang="en-GB" sz="1200" kern="1200" dirty="0">
                <a:solidFill>
                  <a:schemeClr val="tx1"/>
                </a:solidFill>
                <a:effectLst/>
                <a:latin typeface="+mn-lt"/>
                <a:ea typeface="+mn-ea"/>
                <a:cs typeface="+mn-cs"/>
              </a:rPr>
              <a:t>- Treat model artefacts (weights, adapters, prompt packages) as deployable “binaries” with signing and</a:t>
            </a:r>
          </a:p>
          <a:p>
            <a:r>
              <a:rPr lang="en-GB" sz="1200" kern="1200" dirty="0">
                <a:solidFill>
                  <a:schemeClr val="tx1"/>
                </a:solidFill>
                <a:effectLst/>
                <a:latin typeface="+mn-lt"/>
                <a:ea typeface="+mn-ea"/>
                <a:cs typeface="+mn-cs"/>
              </a:rPr>
              <a:t>provenance.</a:t>
            </a:r>
          </a:p>
          <a:p>
            <a:r>
              <a:rPr lang="en-GB" sz="1200" kern="1200" dirty="0">
                <a:solidFill>
                  <a:schemeClr val="tx1"/>
                </a:solidFill>
                <a:effectLst/>
                <a:latin typeface="+mn-lt"/>
                <a:ea typeface="+mn-ea"/>
                <a:cs typeface="+mn-cs"/>
              </a:rPr>
              <a:t>72</a:t>
            </a:r>
          </a:p>
          <a:p>
            <a:r>
              <a:rPr lang="en-GB" sz="1200" kern="1200" dirty="0">
                <a:solidFill>
                  <a:schemeClr val="tx1"/>
                </a:solidFill>
                <a:effectLst/>
                <a:latin typeface="+mn-lt"/>
                <a:ea typeface="+mn-ea"/>
                <a:cs typeface="+mn-cs"/>
              </a:rPr>
              <a:t>- Maintain GenAI-specific incident response: prompt/response logs, retrieval traces, model version</a:t>
            </a:r>
          </a:p>
          <a:p>
            <a:r>
              <a:rPr lang="en-GB" sz="1200" kern="1200" dirty="0">
                <a:solidFill>
                  <a:schemeClr val="tx1"/>
                </a:solidFill>
                <a:effectLst/>
                <a:latin typeface="+mn-lt"/>
                <a:ea typeface="+mn-ea"/>
                <a:cs typeface="+mn-cs"/>
              </a:rPr>
              <a:t>pinning, immediate rollback/kill-switch, and post-incident eval expansions to prevent recurrence.</a:t>
            </a:r>
          </a:p>
          <a:p>
            <a:r>
              <a:rPr lang="en-GB" sz="1200" kern="1200" dirty="0">
                <a:solidFill>
                  <a:schemeClr val="tx1"/>
                </a:solidFill>
                <a:effectLst/>
                <a:latin typeface="+mn-lt"/>
                <a:ea typeface="+mn-ea"/>
                <a:cs typeface="+mn-cs"/>
              </a:rPr>
              <a:t>73</a:t>
            </a:r>
          </a:p>
          <a:p>
            <a:r>
              <a:rPr lang="en-GB" sz="1200" kern="1200" dirty="0">
                <a:solidFill>
                  <a:schemeClr val="tx1"/>
                </a:solidFill>
                <a:effectLst/>
                <a:latin typeface="+mn-lt"/>
                <a:ea typeface="+mn-ea"/>
                <a:cs typeface="+mn-cs"/>
              </a:rPr>
              <a:t>Trade-offs: stronger logging and traceability raise privacy/security burdens; you need strong access</a:t>
            </a:r>
          </a:p>
          <a:p>
            <a:r>
              <a:rPr lang="en-GB" sz="1200" kern="1200" dirty="0">
                <a:solidFill>
                  <a:schemeClr val="tx1"/>
                </a:solidFill>
                <a:effectLst/>
                <a:latin typeface="+mn-lt"/>
                <a:ea typeface="+mn-ea"/>
                <a:cs typeface="+mn-cs"/>
              </a:rPr>
              <a:t>control and retention policies (and possibly redaction) to make logs safe.</a:t>
            </a:r>
          </a:p>
          <a:p>
            <a:r>
              <a:rPr lang="en-GB" sz="1200" kern="1200" dirty="0">
                <a:solidFill>
                  <a:schemeClr val="tx1"/>
                </a:solidFill>
                <a:effectLst/>
                <a:latin typeface="+mn-lt"/>
                <a:ea typeface="+mn-ea"/>
                <a:cs typeface="+mn-cs"/>
              </a:rPr>
              <a:t>27</a:t>
            </a:r>
          </a:p>
          <a:p>
            <a:r>
              <a:rPr lang="en-GB" sz="1200" kern="1200" dirty="0">
                <a:solidFill>
                  <a:schemeClr val="tx1"/>
                </a:solidFill>
                <a:effectLst/>
                <a:latin typeface="+mn-lt"/>
                <a:ea typeface="+mn-ea"/>
                <a:cs typeface="+mn-cs"/>
              </a:rPr>
              <a:t>Metrics: MTTD/MTTR for GenAI incidents, “reproducibility rate” of incidents (can you replay the exact</a:t>
            </a:r>
          </a:p>
          <a:p>
            <a:r>
              <a:rPr lang="en-GB" sz="1200" kern="1200" dirty="0" err="1">
                <a:solidFill>
                  <a:schemeClr val="tx1"/>
                </a:solidFill>
                <a:effectLst/>
                <a:latin typeface="+mn-lt"/>
                <a:ea typeface="+mn-ea"/>
                <a:cs typeface="+mn-cs"/>
              </a:rPr>
              <a:t>prompt+context</a:t>
            </a:r>
            <a:r>
              <a:rPr lang="en-GB" sz="1200" kern="1200" dirty="0">
                <a:solidFill>
                  <a:schemeClr val="tx1"/>
                </a:solidFill>
                <a:effectLst/>
                <a:latin typeface="+mn-lt"/>
                <a:ea typeface="+mn-ea"/>
                <a:cs typeface="+mn-cs"/>
              </a:rPr>
              <a:t>), change failure rate after prompt/model updates, and cost anomaly detection</a:t>
            </a:r>
          </a:p>
          <a:p>
            <a:r>
              <a:rPr lang="en-GB" sz="1200" kern="1200" dirty="0">
                <a:solidFill>
                  <a:schemeClr val="tx1"/>
                </a:solidFill>
                <a:effectLst/>
                <a:latin typeface="+mn-lt"/>
                <a:ea typeface="+mn-ea"/>
                <a:cs typeface="+mn-cs"/>
              </a:rPr>
              <a:t>accuracy.</a:t>
            </a:r>
          </a:p>
          <a:p>
            <a:r>
              <a:rPr lang="en-GB" sz="1200" kern="1200" dirty="0">
                <a:solidFill>
                  <a:schemeClr val="tx1"/>
                </a:solidFill>
                <a:effectLst/>
                <a:latin typeface="+mn-lt"/>
                <a:ea typeface="+mn-ea"/>
                <a:cs typeface="+mn-cs"/>
              </a:rPr>
              <a:t>74</a:t>
            </a:r>
          </a:p>
          <a:p>
            <a:r>
              <a:rPr lang="en-GB" sz="1200" kern="1200" dirty="0">
                <a:solidFill>
                  <a:schemeClr val="tx1"/>
                </a:solidFill>
                <a:effectLst/>
                <a:latin typeface="+mn-lt"/>
                <a:ea typeface="+mn-ea"/>
                <a:cs typeface="+mn-cs"/>
              </a:rPr>
              <a:t>Business implications: faster incident response reduces downtime and legal exposure; supply-chain</a:t>
            </a:r>
          </a:p>
          <a:p>
            <a:r>
              <a:rPr lang="en-GB" sz="1200" kern="1200" dirty="0">
                <a:solidFill>
                  <a:schemeClr val="tx1"/>
                </a:solidFill>
                <a:effectLst/>
                <a:latin typeface="+mn-lt"/>
                <a:ea typeface="+mn-ea"/>
                <a:cs typeface="+mn-cs"/>
              </a:rPr>
              <a:t>maturity becomes a procurement differentiator, especially when customers demand assurances for AI</a:t>
            </a:r>
          </a:p>
          <a:p>
            <a:r>
              <a:rPr lang="en-GB" sz="1200" kern="1200" dirty="0">
                <a:solidFill>
                  <a:schemeClr val="tx1"/>
                </a:solidFill>
                <a:effectLst/>
                <a:latin typeface="+mn-lt"/>
                <a:ea typeface="+mn-ea"/>
                <a:cs typeface="+mn-cs"/>
              </a:rPr>
              <a:t>components.</a:t>
            </a:r>
          </a:p>
          <a:p>
            <a:endParaRPr lang="en-US" dirty="0"/>
          </a:p>
        </p:txBody>
      </p:sp>
      <p:sp>
        <p:nvSpPr>
          <p:cNvPr id="4" name="Slide Number Placeholder 3"/>
          <p:cNvSpPr>
            <a:spLocks noGrp="1"/>
          </p:cNvSpPr>
          <p:nvPr>
            <p:ph type="sldNum" sz="quarter" idx="5"/>
          </p:nvPr>
        </p:nvSpPr>
        <p:spPr/>
        <p:txBody>
          <a:bodyPr/>
          <a:lstStyle/>
          <a:p>
            <a:fld id="{0CC10334-31E2-8E44-8C48-E3876023BF43}" type="slidenum">
              <a:rPr lang="en-US" smtClean="0"/>
              <a:t>21</a:t>
            </a:fld>
            <a:endParaRPr lang="en-US"/>
          </a:p>
        </p:txBody>
      </p:sp>
    </p:spTree>
    <p:extLst>
      <p:ext uri="{BB962C8B-B14F-4D97-AF65-F5344CB8AC3E}">
        <p14:creationId xmlns:p14="http://schemas.microsoft.com/office/powerpoint/2010/main" val="3555300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F5F3-C505-83B0-ED00-08E5B61A962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0EB7483-CEC6-1C90-8F5B-EF91B9E25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C7BF0D1-DEF4-7E20-EC26-425040F09C86}"/>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5" name="Footer Placeholder 4">
            <a:extLst>
              <a:ext uri="{FF2B5EF4-FFF2-40B4-BE49-F238E27FC236}">
                <a16:creationId xmlns:a16="http://schemas.microsoft.com/office/drawing/2014/main" id="{0F55DECE-C8F7-5391-6865-86679ED77B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BA5E95-14AB-33A1-0A51-490CE5BF38C0}"/>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1617144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A8E53-D7AE-A60B-8203-9107AD3795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EAE806-0A45-AFCE-CB43-10499C6E57F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131383-83A0-D920-A738-EF37F01692EF}"/>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5" name="Footer Placeholder 4">
            <a:extLst>
              <a:ext uri="{FF2B5EF4-FFF2-40B4-BE49-F238E27FC236}">
                <a16:creationId xmlns:a16="http://schemas.microsoft.com/office/drawing/2014/main" id="{D6BD5AE2-2D68-FA67-CB20-90B0FD7A8A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58827-A5BC-7DF2-A891-7F3A30D53E73}"/>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3044192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7E217-A484-173B-1FD8-CD239172DD2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95F0DFB-1783-48DD-B491-0D5DCA3EA11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14DEC33-BA8C-8848-54CA-D08320F89C82}"/>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5" name="Footer Placeholder 4">
            <a:extLst>
              <a:ext uri="{FF2B5EF4-FFF2-40B4-BE49-F238E27FC236}">
                <a16:creationId xmlns:a16="http://schemas.microsoft.com/office/drawing/2014/main" id="{09FB21EB-695E-F514-712E-BFAC059D25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4BDFFD-C44C-2E53-F2BF-A9CE71AA2462}"/>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2782648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CB0D-0D03-5BE1-A9A9-63D7FD4D948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06F151D-C005-3FD9-E4EA-B85565855BC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AC9FB63-428B-F6A3-283B-FB1061D3891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5D4EBF0-0ADD-85D0-9F80-23B20C740ACB}"/>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6" name="Footer Placeholder 5">
            <a:extLst>
              <a:ext uri="{FF2B5EF4-FFF2-40B4-BE49-F238E27FC236}">
                <a16:creationId xmlns:a16="http://schemas.microsoft.com/office/drawing/2014/main" id="{4DF728C1-EE25-C953-46C1-845450C167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AD3221-EB70-D2B8-A627-E73A26F52147}"/>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1109749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F374-FB13-88AF-001D-C883F959A4C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C034E99-346A-BA0C-D798-948190D76E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DA39585-350E-EE5B-AC63-E4A48D4CCDD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6A87C24-66D5-2E80-7EE8-3FF0C27722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C9F84F-6FED-B6FB-5425-9F6BC1B728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BEAE42E-D1CB-403D-C17E-B3818D272BFE}"/>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8" name="Footer Placeholder 7">
            <a:extLst>
              <a:ext uri="{FF2B5EF4-FFF2-40B4-BE49-F238E27FC236}">
                <a16:creationId xmlns:a16="http://schemas.microsoft.com/office/drawing/2014/main" id="{62C2B336-5CAE-7345-E285-CC793AAD7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562C03-1D1A-915C-FEBC-D1F247F325E9}"/>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2155086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216E-C238-3988-F5E7-AD6A1D24987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DB95A1C-B770-5DA7-C1CF-0ADDF1DF1B70}"/>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4" name="Footer Placeholder 3">
            <a:extLst>
              <a:ext uri="{FF2B5EF4-FFF2-40B4-BE49-F238E27FC236}">
                <a16:creationId xmlns:a16="http://schemas.microsoft.com/office/drawing/2014/main" id="{36253B80-9AED-C553-6B20-2CC7A04FE7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D195EA-5D9E-A194-9243-B24EF896B869}"/>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3071241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C94215-7FF3-CF57-0DF7-90FA100DAEC3}"/>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3" name="Footer Placeholder 2">
            <a:extLst>
              <a:ext uri="{FF2B5EF4-FFF2-40B4-BE49-F238E27FC236}">
                <a16:creationId xmlns:a16="http://schemas.microsoft.com/office/drawing/2014/main" id="{236FD6D7-E610-515C-3ABB-960F47374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7E3125-CDC7-8F13-D2E6-F460675D1684}"/>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4059369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C39F2-8AF4-6937-0F59-17204D731E3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FCA915B-C3D8-6BCC-3CE3-339E807D9C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94AECFB-72B7-7862-FE5F-29DC836FB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CF1169-7D43-E553-AB00-B03C6A8279D1}"/>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6" name="Footer Placeholder 5">
            <a:extLst>
              <a:ext uri="{FF2B5EF4-FFF2-40B4-BE49-F238E27FC236}">
                <a16:creationId xmlns:a16="http://schemas.microsoft.com/office/drawing/2014/main" id="{580FCC8B-8E15-0AFD-7BFB-878931998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E5E79A-F06B-BF10-64F7-F65F417BFA4C}"/>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1091592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2F5A-2DA9-629F-4D4D-1200726E9ED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C207A0-FE43-B7C7-22F2-45BA0EF8AB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4C424A-07DF-8F0B-7270-FC77A5A827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F8B41E-9132-3CD4-2308-5118DF5EB918}"/>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6" name="Footer Placeholder 5">
            <a:extLst>
              <a:ext uri="{FF2B5EF4-FFF2-40B4-BE49-F238E27FC236}">
                <a16:creationId xmlns:a16="http://schemas.microsoft.com/office/drawing/2014/main" id="{A3015159-84B7-657F-AF45-8CCF052FEC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5584C-8F30-573B-31C4-E8994F52BAF3}"/>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1071714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94961-CA79-C151-241D-56AE92EBA0E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1DB707A-95AD-C47E-FE2D-595220E40E9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8B165E7-29F1-9703-E795-4B6A20FC9D51}"/>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5" name="Footer Placeholder 4">
            <a:extLst>
              <a:ext uri="{FF2B5EF4-FFF2-40B4-BE49-F238E27FC236}">
                <a16:creationId xmlns:a16="http://schemas.microsoft.com/office/drawing/2014/main" id="{1480E5DF-B50D-8FEA-D4AD-E92545F2B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1B2B4-E912-E79E-3D54-25D67B6BACE0}"/>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1227099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C68524-90B8-8FE4-3012-AF69F3C1424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0442587-3B7E-91AA-FC3A-09FC3F16F3F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7F9F07-9056-228C-CC31-D7F9BC448D88}"/>
              </a:ext>
            </a:extLst>
          </p:cNvPr>
          <p:cNvSpPr>
            <a:spLocks noGrp="1"/>
          </p:cNvSpPr>
          <p:nvPr>
            <p:ph type="dt" sz="half" idx="10"/>
          </p:nvPr>
        </p:nvSpPr>
        <p:spPr/>
        <p:txBody>
          <a:bodyPr/>
          <a:lstStyle/>
          <a:p>
            <a:fld id="{A01AF4F5-F9C6-3B43-B372-0522703B6E92}" type="datetimeFigureOut">
              <a:rPr lang="en-US" smtClean="0"/>
              <a:t>2/23/26</a:t>
            </a:fld>
            <a:endParaRPr lang="en-US"/>
          </a:p>
        </p:txBody>
      </p:sp>
      <p:sp>
        <p:nvSpPr>
          <p:cNvPr id="5" name="Footer Placeholder 4">
            <a:extLst>
              <a:ext uri="{FF2B5EF4-FFF2-40B4-BE49-F238E27FC236}">
                <a16:creationId xmlns:a16="http://schemas.microsoft.com/office/drawing/2014/main" id="{F2567BEA-C99D-B574-27C8-9A955AF61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AE483A-E17F-6021-131D-CCE4C7C3BF1E}"/>
              </a:ext>
            </a:extLst>
          </p:cNvPr>
          <p:cNvSpPr>
            <a:spLocks noGrp="1"/>
          </p:cNvSpPr>
          <p:nvPr>
            <p:ph type="sldNum" sz="quarter" idx="12"/>
          </p:nvPr>
        </p:nvSpPr>
        <p:spPr/>
        <p:txBody>
          <a:bodyPr/>
          <a:lstStyle/>
          <a:p>
            <a:fld id="{53A02E71-41A9-1849-92A1-540875029112}" type="slidenum">
              <a:rPr lang="en-US" smtClean="0"/>
              <a:t>‹#›</a:t>
            </a:fld>
            <a:endParaRPr lang="en-US"/>
          </a:p>
        </p:txBody>
      </p:sp>
    </p:spTree>
    <p:extLst>
      <p:ext uri="{BB962C8B-B14F-4D97-AF65-F5344CB8AC3E}">
        <p14:creationId xmlns:p14="http://schemas.microsoft.com/office/powerpoint/2010/main" val="3144420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7913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FE839-4316-F03C-9F93-90D581187C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70B3AD6-D129-3896-2EE5-9023F460C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CD9FE3-D33A-F466-F8B3-6A0E4A28DE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1AF4F5-F9C6-3B43-B372-0522703B6E92}" type="datetimeFigureOut">
              <a:rPr lang="en-US" smtClean="0"/>
              <a:t>2/23/26</a:t>
            </a:fld>
            <a:endParaRPr lang="en-US"/>
          </a:p>
        </p:txBody>
      </p:sp>
      <p:sp>
        <p:nvSpPr>
          <p:cNvPr id="5" name="Footer Placeholder 4">
            <a:extLst>
              <a:ext uri="{FF2B5EF4-FFF2-40B4-BE49-F238E27FC236}">
                <a16:creationId xmlns:a16="http://schemas.microsoft.com/office/drawing/2014/main" id="{43EFDF38-DA29-68C5-0A76-525400627B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F69CB-F19F-5F52-7683-6212E8CEE6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A02E71-41A9-1849-92A1-540875029112}" type="slidenum">
              <a:rPr lang="en-US" smtClean="0"/>
              <a:t>‹#›</a:t>
            </a:fld>
            <a:endParaRPr lang="en-US"/>
          </a:p>
        </p:txBody>
      </p:sp>
    </p:spTree>
    <p:extLst>
      <p:ext uri="{BB962C8B-B14F-4D97-AF65-F5344CB8AC3E}">
        <p14:creationId xmlns:p14="http://schemas.microsoft.com/office/powerpoint/2010/main" val="1265861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0780378"/>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11C9A-8151-166D-D091-5A3115B7FFDE}"/>
              </a:ext>
            </a:extLst>
          </p:cNvPr>
          <p:cNvSpPr>
            <a:spLocks noGrp="1"/>
          </p:cNvSpPr>
          <p:nvPr>
            <p:ph type="ctrTitle"/>
          </p:nvPr>
        </p:nvSpPr>
        <p:spPr/>
        <p:txBody>
          <a:bodyPr/>
          <a:lstStyle/>
          <a:p>
            <a:r>
              <a:rPr lang="en-US" dirty="0"/>
              <a:t>AI Governance…</a:t>
            </a:r>
          </a:p>
        </p:txBody>
      </p:sp>
      <p:sp>
        <p:nvSpPr>
          <p:cNvPr id="3" name="Subtitle 2">
            <a:extLst>
              <a:ext uri="{FF2B5EF4-FFF2-40B4-BE49-F238E27FC236}">
                <a16:creationId xmlns:a16="http://schemas.microsoft.com/office/drawing/2014/main" id="{67762431-6A6E-B03E-15A2-56342CFA783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68221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2A6B5-DF87-1B75-5CBC-D37C1A128678}"/>
              </a:ext>
            </a:extLst>
          </p:cNvPr>
          <p:cNvSpPr>
            <a:spLocks noGrp="1"/>
          </p:cNvSpPr>
          <p:nvPr>
            <p:ph type="title"/>
          </p:nvPr>
        </p:nvSpPr>
        <p:spPr/>
        <p:txBody>
          <a:bodyPr/>
          <a:lstStyle/>
          <a:p>
            <a:r>
              <a:rPr lang="en-US" dirty="0"/>
              <a:t>AI Governance – the Why	</a:t>
            </a:r>
          </a:p>
        </p:txBody>
      </p:sp>
      <p:sp>
        <p:nvSpPr>
          <p:cNvPr id="3" name="Content Placeholder 2">
            <a:extLst>
              <a:ext uri="{FF2B5EF4-FFF2-40B4-BE49-F238E27FC236}">
                <a16:creationId xmlns:a16="http://schemas.microsoft.com/office/drawing/2014/main" id="{2117E448-45D6-EFF0-9044-84DC86B61284}"/>
              </a:ext>
            </a:extLst>
          </p:cNvPr>
          <p:cNvSpPr>
            <a:spLocks noGrp="1"/>
          </p:cNvSpPr>
          <p:nvPr>
            <p:ph idx="1"/>
          </p:nvPr>
        </p:nvSpPr>
        <p:spPr/>
        <p:txBody>
          <a:bodyPr>
            <a:normAutofit lnSpcReduction="10000"/>
          </a:bodyPr>
          <a:lstStyle/>
          <a:p>
            <a:r>
              <a:rPr lang="en-GB" dirty="0"/>
              <a:t>AI governance is the engineered set of decision rights, controls, measurements, and escalation mechanisms </a:t>
            </a:r>
            <a:r>
              <a:rPr lang="en-GB" dirty="0">
                <a:highlight>
                  <a:srgbClr val="FFFF00"/>
                </a:highlight>
              </a:rPr>
              <a:t>that ensures AI systems (and the organisations deploying them) behave within an agreed risk appetite while meeting legal, security, safety, quality, and business objectives</a:t>
            </a:r>
            <a:r>
              <a:rPr lang="en-GB" dirty="0"/>
              <a:t>. </a:t>
            </a:r>
          </a:p>
          <a:p>
            <a:r>
              <a:rPr lang="en-GB" dirty="0"/>
              <a:t>For generative AI (GenAI), governance must treat the model as a probabilistic, prompt-programmable component whose behaviour depends heavily on data, tooling connections (RAG/agents), and operational context—so governance has to be end‑to‑end: from data provenance and training, through deployment and runtime observation, to incident response and post‑mortems.</a:t>
            </a:r>
          </a:p>
          <a:p>
            <a:endParaRPr lang="en-GB" dirty="0"/>
          </a:p>
          <a:p>
            <a:endParaRPr lang="en-US" dirty="0"/>
          </a:p>
        </p:txBody>
      </p:sp>
    </p:spTree>
    <p:extLst>
      <p:ext uri="{BB962C8B-B14F-4D97-AF65-F5344CB8AC3E}">
        <p14:creationId xmlns:p14="http://schemas.microsoft.com/office/powerpoint/2010/main" val="2350165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DC00-C2DF-6833-DA39-B1C7BA96C9A2}"/>
              </a:ext>
            </a:extLst>
          </p:cNvPr>
          <p:cNvSpPr>
            <a:spLocks noGrp="1"/>
          </p:cNvSpPr>
          <p:nvPr>
            <p:ph type="title"/>
          </p:nvPr>
        </p:nvSpPr>
        <p:spPr/>
        <p:txBody>
          <a:bodyPr/>
          <a:lstStyle/>
          <a:p>
            <a:r>
              <a:rPr lang="en-US" dirty="0"/>
              <a:t>Governance is…</a:t>
            </a:r>
          </a:p>
        </p:txBody>
      </p:sp>
      <p:sp>
        <p:nvSpPr>
          <p:cNvPr id="3" name="Content Placeholder 2">
            <a:extLst>
              <a:ext uri="{FF2B5EF4-FFF2-40B4-BE49-F238E27FC236}">
                <a16:creationId xmlns:a16="http://schemas.microsoft.com/office/drawing/2014/main" id="{15C7CD5E-36C0-7CB9-52E1-53CF5959A152}"/>
              </a:ext>
            </a:extLst>
          </p:cNvPr>
          <p:cNvSpPr>
            <a:spLocks noGrp="1"/>
          </p:cNvSpPr>
          <p:nvPr>
            <p:ph idx="1"/>
          </p:nvPr>
        </p:nvSpPr>
        <p:spPr/>
        <p:txBody>
          <a:bodyPr/>
          <a:lstStyle/>
          <a:p>
            <a:r>
              <a:rPr lang="en-GB" b="1" dirty="0"/>
              <a:t>“Governance is not compliance. It’s reliability engineering for socio-technical systems.”</a:t>
            </a:r>
            <a:endParaRPr lang="en-GB" dirty="0"/>
          </a:p>
          <a:p>
            <a:r>
              <a:rPr lang="en-GB" b="1" dirty="0"/>
              <a:t>“If you can’t measure it (e.g., eval pass rates, drift, incident MTTR), you don’t govern it.”</a:t>
            </a:r>
            <a:endParaRPr lang="en-GB" dirty="0"/>
          </a:p>
          <a:p>
            <a:r>
              <a:rPr lang="en-GB" b="1" dirty="0"/>
              <a:t>“The goal isn’t ‘no risk’—it’s explicit risk with bounded blast radius.”</a:t>
            </a:r>
            <a:endParaRPr lang="en-GB" dirty="0"/>
          </a:p>
          <a:p>
            <a:endParaRPr lang="en-US" dirty="0"/>
          </a:p>
        </p:txBody>
      </p:sp>
    </p:spTree>
    <p:extLst>
      <p:ext uri="{BB962C8B-B14F-4D97-AF65-F5344CB8AC3E}">
        <p14:creationId xmlns:p14="http://schemas.microsoft.com/office/powerpoint/2010/main" val="3695432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F059A-F99C-6E46-41F6-C65225FB04B8}"/>
              </a:ext>
            </a:extLst>
          </p:cNvPr>
          <p:cNvSpPr>
            <a:spLocks noGrp="1"/>
          </p:cNvSpPr>
          <p:nvPr>
            <p:ph type="title"/>
          </p:nvPr>
        </p:nvSpPr>
        <p:spPr/>
        <p:txBody>
          <a:bodyPr/>
          <a:lstStyle/>
          <a:p>
            <a:r>
              <a:rPr lang="en-US" dirty="0"/>
              <a:t>AI Governances as AI Control Plane </a:t>
            </a:r>
          </a:p>
        </p:txBody>
      </p:sp>
      <p:sp>
        <p:nvSpPr>
          <p:cNvPr id="3" name="Content Placeholder 2">
            <a:extLst>
              <a:ext uri="{FF2B5EF4-FFF2-40B4-BE49-F238E27FC236}">
                <a16:creationId xmlns:a16="http://schemas.microsoft.com/office/drawing/2014/main" id="{F8DD6732-CE30-F5EC-904F-13BD04FEE951}"/>
              </a:ext>
            </a:extLst>
          </p:cNvPr>
          <p:cNvSpPr>
            <a:spLocks noGrp="1"/>
          </p:cNvSpPr>
          <p:nvPr>
            <p:ph idx="1"/>
          </p:nvPr>
        </p:nvSpPr>
        <p:spPr/>
        <p:txBody>
          <a:bodyPr>
            <a:normAutofit fontScale="92500" lnSpcReduction="20000"/>
          </a:bodyPr>
          <a:lstStyle/>
          <a:p>
            <a:r>
              <a:rPr lang="en-GB" dirty="0"/>
              <a:t>A modern GenAI governance stack should be a </a:t>
            </a:r>
            <a:r>
              <a:rPr lang="en-GB" b="1" dirty="0"/>
              <a:t>control plane across the AI lifecycle</a:t>
            </a:r>
            <a:r>
              <a:rPr lang="en-GB" dirty="0"/>
              <a:t>, not a committee. It includes: </a:t>
            </a:r>
            <a:r>
              <a:rPr lang="en-GB" b="1" dirty="0"/>
              <a:t>(1)</a:t>
            </a:r>
            <a:r>
              <a:rPr lang="en-GB" dirty="0"/>
              <a:t> clear decision rights and risk acceptance; </a:t>
            </a:r>
            <a:r>
              <a:rPr lang="en-GB" b="1" dirty="0"/>
              <a:t>(2)</a:t>
            </a:r>
            <a:r>
              <a:rPr lang="en-GB" dirty="0"/>
              <a:t> complete asset inventory (models, prompts, datasets, tools, endpoints, policies); </a:t>
            </a:r>
            <a:r>
              <a:rPr lang="en-GB" b="1" dirty="0"/>
              <a:t>(3)</a:t>
            </a:r>
            <a:r>
              <a:rPr lang="en-GB" dirty="0"/>
              <a:t> use-case risk tiering and gated approvals; </a:t>
            </a:r>
            <a:r>
              <a:rPr lang="en-GB" b="1" dirty="0"/>
              <a:t>(4)</a:t>
            </a:r>
            <a:r>
              <a:rPr lang="en-GB" dirty="0"/>
              <a:t> data governance (provenance/licensing, PII, retention/redaction; for RAG: source allowlists + freshness/citation rules); </a:t>
            </a:r>
            <a:r>
              <a:rPr lang="en-GB" b="1" dirty="0"/>
              <a:t>(5)</a:t>
            </a:r>
            <a:r>
              <a:rPr lang="en-GB" dirty="0"/>
              <a:t> evaluation gates and regression CI (capability, safety, security, privacy) for every release; </a:t>
            </a:r>
            <a:r>
              <a:rPr lang="en-GB" b="1" dirty="0"/>
              <a:t>(6)</a:t>
            </a:r>
            <a:r>
              <a:rPr lang="en-GB" dirty="0"/>
              <a:t> runtime enforcement (policy-as-code, least-privilege tool access, sandboxing, human-in-the-loop for high-impact actions); </a:t>
            </a:r>
            <a:r>
              <a:rPr lang="en-GB" b="1" dirty="0"/>
              <a:t>(7)</a:t>
            </a:r>
            <a:r>
              <a:rPr lang="en-GB" dirty="0"/>
              <a:t> observability and audit (end-to-end traces incl. retrieval/tool calls, tamper-resistant logs); </a:t>
            </a:r>
            <a:r>
              <a:rPr lang="en-GB" b="1" dirty="0"/>
              <a:t>(8)</a:t>
            </a:r>
            <a:r>
              <a:rPr lang="en-GB" dirty="0"/>
              <a:t> supply-chain and vendor controls; and </a:t>
            </a:r>
            <a:r>
              <a:rPr lang="en-GB" b="1" dirty="0"/>
              <a:t>(9)</a:t>
            </a:r>
            <a:r>
              <a:rPr lang="en-GB" dirty="0"/>
              <a:t> GenAI incident response (prompt/response forensics, retrieval traceability, kill-switch/rollback, post-incident updates and learning loops).</a:t>
            </a:r>
            <a:endParaRPr lang="en-US" dirty="0"/>
          </a:p>
        </p:txBody>
      </p:sp>
    </p:spTree>
    <p:extLst>
      <p:ext uri="{BB962C8B-B14F-4D97-AF65-F5344CB8AC3E}">
        <p14:creationId xmlns:p14="http://schemas.microsoft.com/office/powerpoint/2010/main" val="296662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CB5A3-4F7C-A3D6-0113-0D0E731AB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1D445-588A-3C2F-4C56-C23EBA8D80EF}"/>
              </a:ext>
            </a:extLst>
          </p:cNvPr>
          <p:cNvSpPr>
            <a:spLocks noGrp="1"/>
          </p:cNvSpPr>
          <p:nvPr>
            <p:ph type="title"/>
          </p:nvPr>
        </p:nvSpPr>
        <p:spPr/>
        <p:txBody>
          <a:bodyPr/>
          <a:lstStyle/>
          <a:p>
            <a:r>
              <a:rPr lang="en-US" dirty="0"/>
              <a:t>AI Governances as AI Control Plane </a:t>
            </a:r>
          </a:p>
        </p:txBody>
      </p:sp>
      <p:sp>
        <p:nvSpPr>
          <p:cNvPr id="3" name="Content Placeholder 2">
            <a:extLst>
              <a:ext uri="{FF2B5EF4-FFF2-40B4-BE49-F238E27FC236}">
                <a16:creationId xmlns:a16="http://schemas.microsoft.com/office/drawing/2014/main" id="{8B8B4B08-B740-C27E-9448-BF8D7D6C5FE8}"/>
              </a:ext>
            </a:extLst>
          </p:cNvPr>
          <p:cNvSpPr>
            <a:spLocks noGrp="1"/>
          </p:cNvSpPr>
          <p:nvPr>
            <p:ph idx="1"/>
          </p:nvPr>
        </p:nvSpPr>
        <p:spPr/>
        <p:txBody>
          <a:bodyPr>
            <a:normAutofit fontScale="70000" lnSpcReduction="20000"/>
          </a:bodyPr>
          <a:lstStyle/>
          <a:p>
            <a:r>
              <a:rPr lang="en-GB" dirty="0"/>
              <a:t>A modern GenAI governance stack should be a </a:t>
            </a:r>
            <a:r>
              <a:rPr lang="en-GB" b="1" dirty="0"/>
              <a:t>control plane across the AI lifecycle</a:t>
            </a:r>
            <a:r>
              <a:rPr lang="en-GB" dirty="0"/>
              <a:t>, not a committee. It includes: </a:t>
            </a:r>
          </a:p>
          <a:p>
            <a:pPr marL="0" indent="0">
              <a:buNone/>
            </a:pPr>
            <a:r>
              <a:rPr lang="en-GB" b="1" dirty="0"/>
              <a:t>(1)</a:t>
            </a:r>
            <a:r>
              <a:rPr lang="en-GB" dirty="0"/>
              <a:t> clear decision rights and risk acceptance</a:t>
            </a:r>
          </a:p>
          <a:p>
            <a:pPr marL="0" indent="0">
              <a:buNone/>
            </a:pPr>
            <a:r>
              <a:rPr lang="en-GB" b="1" dirty="0"/>
              <a:t>(2)</a:t>
            </a:r>
            <a:r>
              <a:rPr lang="en-GB" dirty="0"/>
              <a:t> complete asset inventory (models, prompts, datasets, tools, endpoints, policies); </a:t>
            </a:r>
          </a:p>
          <a:p>
            <a:pPr marL="0" indent="0">
              <a:buNone/>
            </a:pPr>
            <a:r>
              <a:rPr lang="en-GB" b="1" dirty="0"/>
              <a:t>(3)</a:t>
            </a:r>
            <a:r>
              <a:rPr lang="en-GB" dirty="0"/>
              <a:t> use-case risk tiering and gated approvals</a:t>
            </a:r>
          </a:p>
          <a:p>
            <a:pPr marL="0" indent="0">
              <a:buNone/>
            </a:pPr>
            <a:r>
              <a:rPr lang="en-GB" b="1" dirty="0"/>
              <a:t>(4)</a:t>
            </a:r>
            <a:r>
              <a:rPr lang="en-GB" dirty="0"/>
              <a:t> data governance (provenance/licensing, PII, retention/redaction; for RAG: source allowlists + freshness/citation rules) </a:t>
            </a:r>
          </a:p>
          <a:p>
            <a:pPr marL="0" indent="0">
              <a:buNone/>
            </a:pPr>
            <a:r>
              <a:rPr lang="en-GB" b="1" dirty="0"/>
              <a:t>(5)</a:t>
            </a:r>
            <a:r>
              <a:rPr lang="en-GB" dirty="0"/>
              <a:t> evaluation gates and regression CI (capability, safety, security, privacy) for every release </a:t>
            </a:r>
          </a:p>
          <a:p>
            <a:pPr marL="0" indent="0">
              <a:buNone/>
            </a:pPr>
            <a:r>
              <a:rPr lang="en-GB" b="1" dirty="0"/>
              <a:t>(6)</a:t>
            </a:r>
            <a:r>
              <a:rPr lang="en-GB" dirty="0"/>
              <a:t> runtime enforcement (policy-as-code, least-privilege tool access, sandboxing, human-in-the-loop for high-impact actions)</a:t>
            </a:r>
          </a:p>
          <a:p>
            <a:pPr marL="0" indent="0">
              <a:buNone/>
            </a:pPr>
            <a:r>
              <a:rPr lang="en-GB" b="1" dirty="0"/>
              <a:t>(7)</a:t>
            </a:r>
            <a:r>
              <a:rPr lang="en-GB" dirty="0"/>
              <a:t> observability and audit (end-to-end traces incl. retrieval/tool calls, tamper-resistant logs)</a:t>
            </a:r>
          </a:p>
          <a:p>
            <a:pPr marL="0" indent="0">
              <a:buNone/>
            </a:pPr>
            <a:r>
              <a:rPr lang="en-GB" b="1" dirty="0"/>
              <a:t>(8)</a:t>
            </a:r>
            <a:r>
              <a:rPr lang="en-GB" dirty="0"/>
              <a:t> supply-chain and vendor controls</a:t>
            </a:r>
          </a:p>
          <a:p>
            <a:pPr marL="0" indent="0">
              <a:buNone/>
            </a:pPr>
            <a:r>
              <a:rPr lang="en-GB" b="1" dirty="0"/>
              <a:t>(9)</a:t>
            </a:r>
            <a:r>
              <a:rPr lang="en-GB" dirty="0"/>
              <a:t> GenAI incident response (prompt/response forensics, retrieval traceability, kill-switch/rollback, post-incident updates and learning loops).</a:t>
            </a:r>
            <a:endParaRPr lang="en-US" dirty="0"/>
          </a:p>
        </p:txBody>
      </p:sp>
    </p:spTree>
    <p:extLst>
      <p:ext uri="{BB962C8B-B14F-4D97-AF65-F5344CB8AC3E}">
        <p14:creationId xmlns:p14="http://schemas.microsoft.com/office/powerpoint/2010/main" val="3546654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F1A30"/>
          </a:solidFill>
          <a:ln w="12700">
            <a:solidFill>
              <a:srgbClr val="0F1A3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48640" y="164592"/>
            <a:ext cx="10515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E5E7EB"/>
                </a:solidFill>
                <a:effectLst/>
                <a:uLnTx/>
                <a:uFillTx/>
                <a:latin typeface="Calibri" pitchFamily="34" charset="0"/>
                <a:ea typeface="Calibri" pitchFamily="34" charset="-122"/>
                <a:cs typeface="Calibri" pitchFamily="34" charset="-120"/>
              </a:rPr>
              <a:t>Control patterns (what these stories really teach)</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48640" y="438912"/>
            <a:ext cx="1078992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A compact governance stack you can operationalize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0" y="713232"/>
            <a:ext cx="12191695" cy="54864"/>
          </a:xfrm>
          <a:prstGeom prst="rect">
            <a:avLst/>
          </a:prstGeom>
          <a:solidFill>
            <a:srgbClr val="223055"/>
          </a:solidFill>
          <a:ln w="12700">
            <a:solidFill>
              <a:srgbClr val="2230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0" y="713232"/>
            <a:ext cx="2834640" cy="54864"/>
          </a:xfrm>
          <a:prstGeom prst="rect">
            <a:avLst/>
          </a:prstGeom>
          <a:solidFill>
            <a:srgbClr val="4F8EF7"/>
          </a:solidFill>
          <a:ln w="12700">
            <a:solidFill>
              <a:srgbClr val="4F8E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22960" y="1143000"/>
            <a:ext cx="10561320" cy="5166360"/>
          </a:xfrm>
          <a:prstGeom prst="roundRect">
            <a:avLst/>
          </a:prstGeom>
          <a:solidFill>
            <a:srgbClr val="111C33"/>
          </a:solidFill>
          <a:ln w="12700">
            <a:solidFill>
              <a:srgbClr val="223055"/>
            </a:solidFill>
            <a:prstDash val="solid"/>
          </a:ln>
          <a:effectLst>
            <a:outerShdw blurRad="38100" dist="19050" dir="2700000" algn="bl" rotWithShape="0">
              <a:srgbClr val="000000">
                <a:alpha val="2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143000" y="1417320"/>
            <a:ext cx="10058400" cy="914400"/>
          </a:xfrm>
          <a:prstGeom prst="roundRect">
            <a:avLst/>
          </a:prstGeom>
          <a:solidFill>
            <a:srgbClr val="111C33"/>
          </a:solidFill>
          <a:ln w="12700">
            <a:solidFill>
              <a:srgbClr val="2230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1143000" y="1417320"/>
            <a:ext cx="146304" cy="914400"/>
          </a:xfrm>
          <a:prstGeom prst="rect">
            <a:avLst/>
          </a:prstGeom>
          <a:solidFill>
            <a:srgbClr val="F59E0B"/>
          </a:solidFill>
          <a:ln w="12700">
            <a:solidFill>
              <a:srgbClr val="F59E0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399032" y="1527048"/>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5E7EB"/>
                </a:solidFill>
                <a:effectLst/>
                <a:uLnTx/>
                <a:uFillTx/>
                <a:latin typeface="Calibri" pitchFamily="34" charset="0"/>
                <a:ea typeface="Calibri" pitchFamily="34" charset="-122"/>
                <a:cs typeface="Calibri" pitchFamily="34" charset="-120"/>
              </a:rPr>
              <a:t>1) Permissioning &amp; isolation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399032" y="1801368"/>
            <a:ext cx="960120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Least privilege for tools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Prod/dev separation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Scoped tokens + allowlists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143000" y="2496312"/>
            <a:ext cx="10058400" cy="914400"/>
          </a:xfrm>
          <a:prstGeom prst="roundRect">
            <a:avLst/>
          </a:prstGeom>
          <a:solidFill>
            <a:srgbClr val="111C33"/>
          </a:solidFill>
          <a:ln w="12700">
            <a:solidFill>
              <a:srgbClr val="2230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1143000" y="2496312"/>
            <a:ext cx="146304" cy="914400"/>
          </a:xfrm>
          <a:prstGeom prst="rect">
            <a:avLst/>
          </a:prstGeom>
          <a:solidFill>
            <a:srgbClr val="4F8EF7"/>
          </a:solidFill>
          <a:ln w="12700">
            <a:solidFill>
              <a:srgbClr val="4F8E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1399032" y="260604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5E7EB"/>
                </a:solidFill>
                <a:effectLst/>
                <a:uLnTx/>
                <a:uFillTx/>
                <a:latin typeface="Calibri" pitchFamily="34" charset="0"/>
                <a:ea typeface="Calibri" pitchFamily="34" charset="-122"/>
                <a:cs typeface="Calibri" pitchFamily="34" charset="-120"/>
              </a:rPr>
              <a:t>2) Release gates (LLM CI)</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99032" y="2880360"/>
            <a:ext cx="960120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Eval suites + thresholds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Canaries + rollbacks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Change control for prompts/models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1143000" y="3575304"/>
            <a:ext cx="10058400" cy="914400"/>
          </a:xfrm>
          <a:prstGeom prst="roundRect">
            <a:avLst/>
          </a:prstGeom>
          <a:solidFill>
            <a:srgbClr val="111C33"/>
          </a:solidFill>
          <a:ln w="12700">
            <a:solidFill>
              <a:srgbClr val="2230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1143000" y="3575304"/>
            <a:ext cx="146304" cy="914400"/>
          </a:xfrm>
          <a:prstGeom prst="rect">
            <a:avLst/>
          </a:prstGeom>
          <a:solidFill>
            <a:srgbClr val="34D399"/>
          </a:solidFill>
          <a:ln w="12700">
            <a:solidFill>
              <a:srgbClr val="34D39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1399032" y="3685032"/>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5E7EB"/>
                </a:solidFill>
                <a:effectLst/>
                <a:uLnTx/>
                <a:uFillTx/>
                <a:latin typeface="Calibri" pitchFamily="34" charset="0"/>
                <a:ea typeface="Calibri" pitchFamily="34" charset="-122"/>
                <a:cs typeface="Calibri" pitchFamily="34" charset="-120"/>
              </a:rPr>
              <a:t>3) Data governance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399032" y="3959352"/>
            <a:ext cx="960120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Provenance tiers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PII redaction / DLP</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Retention + audit trails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1143000" y="4654296"/>
            <a:ext cx="10058400" cy="914400"/>
          </a:xfrm>
          <a:prstGeom prst="roundRect">
            <a:avLst/>
          </a:prstGeom>
          <a:solidFill>
            <a:srgbClr val="111C33"/>
          </a:solidFill>
          <a:ln w="12700">
            <a:solidFill>
              <a:srgbClr val="2230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1143000" y="4654296"/>
            <a:ext cx="146304" cy="914400"/>
          </a:xfrm>
          <a:prstGeom prst="rect">
            <a:avLst/>
          </a:prstGeom>
          <a:solidFill>
            <a:srgbClr val="A78BFA"/>
          </a:solidFill>
          <a:ln w="12700">
            <a:solidFill>
              <a:srgbClr val="A78B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1399032" y="4764024"/>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5E7EB"/>
                </a:solidFill>
                <a:effectLst/>
                <a:uLnTx/>
                <a:uFillTx/>
                <a:latin typeface="Calibri" pitchFamily="34" charset="0"/>
                <a:ea typeface="Calibri" pitchFamily="34" charset="-122"/>
                <a:cs typeface="Calibri" pitchFamily="34" charset="-120"/>
              </a:rPr>
              <a:t>4) Runtime enforcement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399032" y="5038344"/>
            <a:ext cx="960120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Policy checks on tool calls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Output validation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Monitoring + kill switch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1143000" y="5733288"/>
            <a:ext cx="10058400" cy="914400"/>
          </a:xfrm>
          <a:prstGeom prst="roundRect">
            <a:avLst/>
          </a:prstGeom>
          <a:solidFill>
            <a:srgbClr val="111C33"/>
          </a:solidFill>
          <a:ln w="12700">
            <a:solidFill>
              <a:srgbClr val="2230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1143000" y="5733288"/>
            <a:ext cx="146304" cy="914400"/>
          </a:xfrm>
          <a:prstGeom prst="rect">
            <a:avLst/>
          </a:prstGeom>
          <a:solidFill>
            <a:srgbClr val="F87171"/>
          </a:solidFill>
          <a:ln w="12700">
            <a:solidFill>
              <a:srgbClr val="F8717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1399032" y="5843016"/>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5E7EB"/>
                </a:solidFill>
                <a:effectLst/>
                <a:uLnTx/>
                <a:uFillTx/>
                <a:latin typeface="Calibri" pitchFamily="34" charset="0"/>
                <a:ea typeface="Calibri" pitchFamily="34" charset="-122"/>
                <a:cs typeface="Calibri" pitchFamily="34" charset="-120"/>
              </a:rPr>
              <a:t>5) Evidence &amp; accountability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1399032" y="6117336"/>
            <a:ext cx="9601200" cy="50292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RACI + sign-offs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Incident playbooks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 Audit-ready artifacts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548640" y="6601968"/>
            <a:ext cx="11064240" cy="22860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AI Governance Stories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0392A-4F51-B4B5-E00F-1D6F7F336826}"/>
              </a:ext>
            </a:extLst>
          </p:cNvPr>
          <p:cNvSpPr>
            <a:spLocks noGrp="1"/>
          </p:cNvSpPr>
          <p:nvPr>
            <p:ph type="title"/>
          </p:nvPr>
        </p:nvSpPr>
        <p:spPr/>
        <p:txBody>
          <a:bodyPr/>
          <a:lstStyle/>
          <a:p>
            <a:r>
              <a:rPr lang="en-US" dirty="0"/>
              <a:t>The Power Shift </a:t>
            </a:r>
          </a:p>
        </p:txBody>
      </p:sp>
      <p:sp>
        <p:nvSpPr>
          <p:cNvPr id="3" name="Content Placeholder 2">
            <a:extLst>
              <a:ext uri="{FF2B5EF4-FFF2-40B4-BE49-F238E27FC236}">
                <a16:creationId xmlns:a16="http://schemas.microsoft.com/office/drawing/2014/main" id="{91F16FA2-DF8E-AD87-28AE-BAA825B9667A}"/>
              </a:ext>
            </a:extLst>
          </p:cNvPr>
          <p:cNvSpPr>
            <a:spLocks noGrp="1"/>
          </p:cNvSpPr>
          <p:nvPr>
            <p:ph idx="1"/>
          </p:nvPr>
        </p:nvSpPr>
        <p:spPr/>
        <p:txBody>
          <a:bodyPr>
            <a:normAutofit fontScale="92500" lnSpcReduction="20000"/>
          </a:bodyPr>
          <a:lstStyle/>
          <a:p>
            <a:r>
              <a:rPr lang="en-GB" b="1" dirty="0"/>
              <a:t>The power shift</a:t>
            </a:r>
            <a:endParaRPr lang="en-GB" dirty="0"/>
          </a:p>
          <a:p>
            <a:pPr lvl="1"/>
            <a:r>
              <a:rPr lang="en-GB" dirty="0"/>
              <a:t>LLMs moved from </a:t>
            </a:r>
            <a:r>
              <a:rPr lang="en-GB" i="1" dirty="0"/>
              <a:t>text generation</a:t>
            </a:r>
            <a:r>
              <a:rPr lang="en-GB" dirty="0"/>
              <a:t> to </a:t>
            </a:r>
            <a:r>
              <a:rPr lang="en-GB" i="1" dirty="0"/>
              <a:t>decision shaping</a:t>
            </a:r>
            <a:r>
              <a:rPr lang="en-GB" dirty="0"/>
              <a:t> to </a:t>
            </a:r>
            <a:r>
              <a:rPr lang="en-GB" i="1" dirty="0"/>
              <a:t>tool use/agents</a:t>
            </a:r>
            <a:r>
              <a:rPr lang="en-GB" dirty="0"/>
              <a:t>.</a:t>
            </a:r>
          </a:p>
          <a:p>
            <a:pPr lvl="1"/>
            <a:r>
              <a:rPr lang="en-GB" dirty="0"/>
              <a:t>That increases blast radius: one prompt → many downstream actions.</a:t>
            </a:r>
          </a:p>
          <a:p>
            <a:r>
              <a:rPr lang="en-GB" b="1" dirty="0">
                <a:highlight>
                  <a:srgbClr val="FFFF00"/>
                </a:highlight>
              </a:rPr>
              <a:t>The failure mode shift</a:t>
            </a:r>
            <a:endParaRPr lang="en-GB" dirty="0">
              <a:highlight>
                <a:srgbClr val="FFFF00"/>
              </a:highlight>
            </a:endParaRPr>
          </a:p>
          <a:p>
            <a:pPr lvl="1"/>
            <a:r>
              <a:rPr lang="en-GB" dirty="0"/>
              <a:t>Traditional software fails deterministically. AI fails probabilistically, contextually, and </a:t>
            </a:r>
            <a:r>
              <a:rPr lang="en-GB" dirty="0" err="1"/>
              <a:t>adversarially</a:t>
            </a:r>
            <a:r>
              <a:rPr lang="en-GB" dirty="0"/>
              <a:t> (prompt injection, data poisoning, jailbreaks).</a:t>
            </a:r>
          </a:p>
          <a:p>
            <a:pPr lvl="1"/>
            <a:r>
              <a:rPr lang="en-GB" dirty="0"/>
              <a:t>Failures are harder to reproduce → you need </a:t>
            </a:r>
            <a:r>
              <a:rPr lang="en-GB" b="1" dirty="0"/>
              <a:t>evidence-based gates</a:t>
            </a:r>
            <a:r>
              <a:rPr lang="en-GB" dirty="0"/>
              <a:t> and </a:t>
            </a:r>
            <a:r>
              <a:rPr lang="en-GB" b="1" dirty="0"/>
              <a:t>runtime controls</a:t>
            </a:r>
            <a:r>
              <a:rPr lang="en-GB" dirty="0"/>
              <a:t>. legal and brand liability from ungoverned hallucinations</a:t>
            </a:r>
          </a:p>
          <a:p>
            <a:pPr lvl="1"/>
            <a:endParaRPr lang="en-GB" dirty="0"/>
          </a:p>
          <a:p>
            <a:r>
              <a:rPr lang="en-GB" b="1" dirty="0"/>
              <a:t>The business consequence</a:t>
            </a:r>
            <a:endParaRPr lang="en-GB" dirty="0"/>
          </a:p>
          <a:p>
            <a:pPr lvl="1"/>
            <a:r>
              <a:rPr lang="en-GB" dirty="0"/>
              <a:t>Without governance you get: blocked deployments, reputational damage, compliance fire drills, and “shadow AI.”</a:t>
            </a:r>
          </a:p>
          <a:p>
            <a:pPr lvl="1"/>
            <a:r>
              <a:rPr lang="en-GB" dirty="0"/>
              <a:t>With governance you get: faster approvals, safer autonomy, measurable quality, and trust.</a:t>
            </a:r>
          </a:p>
          <a:p>
            <a:endParaRPr lang="en-US" dirty="0"/>
          </a:p>
        </p:txBody>
      </p:sp>
    </p:spTree>
    <p:extLst>
      <p:ext uri="{BB962C8B-B14F-4D97-AF65-F5344CB8AC3E}">
        <p14:creationId xmlns:p14="http://schemas.microsoft.com/office/powerpoint/2010/main" val="533588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859A9-30F6-7E9C-A9FF-A77A0C54B452}"/>
              </a:ext>
            </a:extLst>
          </p:cNvPr>
          <p:cNvSpPr>
            <a:spLocks noGrp="1"/>
          </p:cNvSpPr>
          <p:nvPr>
            <p:ph type="title"/>
          </p:nvPr>
        </p:nvSpPr>
        <p:spPr/>
        <p:txBody>
          <a:bodyPr>
            <a:normAutofit/>
          </a:bodyPr>
          <a:lstStyle/>
          <a:p>
            <a:r>
              <a:rPr lang="en-GB" dirty="0"/>
              <a:t>AI governance = organisational governance + technical assurance.</a:t>
            </a:r>
            <a:endParaRPr lang="en-US" dirty="0"/>
          </a:p>
        </p:txBody>
      </p:sp>
      <p:sp>
        <p:nvSpPr>
          <p:cNvPr id="3" name="Content Placeholder 2">
            <a:extLst>
              <a:ext uri="{FF2B5EF4-FFF2-40B4-BE49-F238E27FC236}">
                <a16:creationId xmlns:a16="http://schemas.microsoft.com/office/drawing/2014/main" id="{37F8C7EB-75A4-3EE2-BE81-D91802968A0C}"/>
              </a:ext>
            </a:extLst>
          </p:cNvPr>
          <p:cNvSpPr>
            <a:spLocks noGrp="1"/>
          </p:cNvSpPr>
          <p:nvPr>
            <p:ph idx="1"/>
          </p:nvPr>
        </p:nvSpPr>
        <p:spPr/>
        <p:txBody>
          <a:bodyPr/>
          <a:lstStyle/>
          <a:p>
            <a:r>
              <a:rPr lang="en-GB" dirty="0"/>
              <a:t>Organisationally, governance sets accountability, roles, decision rights, and assurance obligations;</a:t>
            </a:r>
          </a:p>
          <a:p>
            <a:r>
              <a:rPr lang="en-GB" dirty="0"/>
              <a:t>Technically, it creates the measurement, control, and traceability mechanisms that make those obligations testable and auditable</a:t>
            </a:r>
          </a:p>
          <a:p>
            <a:r>
              <a:rPr lang="en-GB" i="1" dirty="0"/>
              <a:t>“safety” must be operationalised as measurable requirements tied to explicit risk scenarios and evaluation sets, not as an undifferentiated global filter.</a:t>
            </a:r>
          </a:p>
          <a:p>
            <a:endParaRPr lang="en-GB" dirty="0"/>
          </a:p>
          <a:p>
            <a:endParaRPr lang="en-US" dirty="0"/>
          </a:p>
        </p:txBody>
      </p:sp>
    </p:spTree>
    <p:extLst>
      <p:ext uri="{BB962C8B-B14F-4D97-AF65-F5344CB8AC3E}">
        <p14:creationId xmlns:p14="http://schemas.microsoft.com/office/powerpoint/2010/main" val="1269961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descr="A diagram of a flowchart&#10;&#10;AI-generated content may be incorrect.">
            <a:extLst>
              <a:ext uri="{FF2B5EF4-FFF2-40B4-BE49-F238E27FC236}">
                <a16:creationId xmlns:a16="http://schemas.microsoft.com/office/drawing/2014/main" id="{A3A82AC4-3BE5-2303-22C8-87EBF7BBEBAB}"/>
              </a:ext>
            </a:extLst>
          </p:cNvPr>
          <p:cNvPicPr>
            <a:picLocks noGrp="1" noChangeAspect="1"/>
          </p:cNvPicPr>
          <p:nvPr>
            <p:ph idx="1"/>
          </p:nvPr>
        </p:nvPicPr>
        <p:blipFill>
          <a:blip r:embed="rId3"/>
          <a:srcRect r="3094"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47776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B913B-2793-6E20-5205-F941124DC758}"/>
              </a:ext>
            </a:extLst>
          </p:cNvPr>
          <p:cNvSpPr>
            <a:spLocks noGrp="1"/>
          </p:cNvSpPr>
          <p:nvPr>
            <p:ph type="title"/>
          </p:nvPr>
        </p:nvSpPr>
        <p:spPr/>
        <p:txBody>
          <a:bodyPr/>
          <a:lstStyle/>
          <a:p>
            <a:r>
              <a:rPr lang="en-US" dirty="0"/>
              <a:t>AI Governance Scope </a:t>
            </a:r>
          </a:p>
        </p:txBody>
      </p:sp>
      <p:sp>
        <p:nvSpPr>
          <p:cNvPr id="3" name="Content Placeholder 2">
            <a:extLst>
              <a:ext uri="{FF2B5EF4-FFF2-40B4-BE49-F238E27FC236}">
                <a16:creationId xmlns:a16="http://schemas.microsoft.com/office/drawing/2014/main" id="{7F10E6AC-71CC-A3DE-D7E5-79F9DDBCB5AD}"/>
              </a:ext>
            </a:extLst>
          </p:cNvPr>
          <p:cNvSpPr>
            <a:spLocks noGrp="1"/>
          </p:cNvSpPr>
          <p:nvPr>
            <p:ph idx="1"/>
          </p:nvPr>
        </p:nvSpPr>
        <p:spPr/>
        <p:txBody>
          <a:bodyPr>
            <a:normAutofit/>
          </a:bodyPr>
          <a:lstStyle/>
          <a:p>
            <a:r>
              <a:rPr lang="en-GB" dirty="0"/>
              <a:t>For generative AI, “scope” must be broad because risk is often introduced outside the core model</a:t>
            </a:r>
          </a:p>
          <a:p>
            <a:pPr lvl="1"/>
            <a:r>
              <a:rPr lang="en-GB" dirty="0"/>
              <a:t>weights. In GenAI systems, the effective behaviour arises from the combination of: (a) the foundation</a:t>
            </a:r>
          </a:p>
          <a:p>
            <a:pPr lvl="1"/>
            <a:r>
              <a:rPr lang="en-GB" dirty="0"/>
              <a:t>model (capabilities, training distribution, post‑training), (b) the orchestration layer (prompt templates,</a:t>
            </a:r>
          </a:p>
          <a:p>
            <a:pPr lvl="1"/>
            <a:r>
              <a:rPr lang="en-GB" dirty="0"/>
              <a:t>tool routing, policies), (c) external knowledge sources (RAG corpora, enterprise documentation), and (d)</a:t>
            </a:r>
          </a:p>
          <a:p>
            <a:pPr lvl="1"/>
            <a:r>
              <a:rPr lang="en-GB" dirty="0"/>
              <a:t>runtime context (user intent, authentication status, environment permissions)</a:t>
            </a:r>
          </a:p>
          <a:p>
            <a:endParaRPr lang="en-US" dirty="0"/>
          </a:p>
        </p:txBody>
      </p:sp>
    </p:spTree>
    <p:extLst>
      <p:ext uri="{BB962C8B-B14F-4D97-AF65-F5344CB8AC3E}">
        <p14:creationId xmlns:p14="http://schemas.microsoft.com/office/powerpoint/2010/main" val="643878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DB01-6D97-97E1-38CB-CA7B87259386}"/>
              </a:ext>
            </a:extLst>
          </p:cNvPr>
          <p:cNvSpPr>
            <a:spLocks noGrp="1"/>
          </p:cNvSpPr>
          <p:nvPr>
            <p:ph type="title"/>
          </p:nvPr>
        </p:nvSpPr>
        <p:spPr/>
        <p:txBody>
          <a:bodyPr/>
          <a:lstStyle/>
          <a:p>
            <a:r>
              <a:rPr lang="en-US" dirty="0"/>
              <a:t>AI Governance </a:t>
            </a:r>
          </a:p>
        </p:txBody>
      </p:sp>
      <p:sp>
        <p:nvSpPr>
          <p:cNvPr id="3" name="Content Placeholder 2">
            <a:extLst>
              <a:ext uri="{FF2B5EF4-FFF2-40B4-BE49-F238E27FC236}">
                <a16:creationId xmlns:a16="http://schemas.microsoft.com/office/drawing/2014/main" id="{C7B6445A-322E-69F5-4125-EAB2985380E7}"/>
              </a:ext>
            </a:extLst>
          </p:cNvPr>
          <p:cNvSpPr>
            <a:spLocks noGrp="1"/>
          </p:cNvSpPr>
          <p:nvPr>
            <p:ph idx="1"/>
          </p:nvPr>
        </p:nvSpPr>
        <p:spPr/>
        <p:txBody>
          <a:bodyPr/>
          <a:lstStyle/>
          <a:p>
            <a:r>
              <a:rPr lang="en-US" dirty="0"/>
              <a:t>System Governance – </a:t>
            </a:r>
          </a:p>
          <a:p>
            <a:r>
              <a:rPr lang="en-US" dirty="0"/>
              <a:t>Model Governance </a:t>
            </a:r>
          </a:p>
          <a:p>
            <a:r>
              <a:rPr lang="en-US" dirty="0"/>
              <a:t>Data Governance </a:t>
            </a:r>
          </a:p>
          <a:p>
            <a:r>
              <a:rPr lang="en-US" dirty="0"/>
              <a:t>Operational Governance </a:t>
            </a:r>
          </a:p>
          <a:p>
            <a:r>
              <a:rPr lang="en-US" dirty="0"/>
              <a:t>Supply-chain Governance </a:t>
            </a:r>
          </a:p>
          <a:p>
            <a:endParaRPr lang="en-US" dirty="0"/>
          </a:p>
        </p:txBody>
      </p:sp>
    </p:spTree>
    <p:extLst>
      <p:ext uri="{BB962C8B-B14F-4D97-AF65-F5344CB8AC3E}">
        <p14:creationId xmlns:p14="http://schemas.microsoft.com/office/powerpoint/2010/main" val="3759191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3903D-79E0-33E3-6790-1ABFC8BBAA11}"/>
              </a:ext>
            </a:extLst>
          </p:cNvPr>
          <p:cNvSpPr>
            <a:spLocks noGrp="1"/>
          </p:cNvSpPr>
          <p:nvPr>
            <p:ph type="title"/>
          </p:nvPr>
        </p:nvSpPr>
        <p:spPr/>
        <p:txBody>
          <a:bodyPr/>
          <a:lstStyle/>
          <a:p>
            <a:r>
              <a:rPr lang="en-US" dirty="0"/>
              <a:t>Content Authenticity </a:t>
            </a:r>
          </a:p>
        </p:txBody>
      </p:sp>
      <p:sp>
        <p:nvSpPr>
          <p:cNvPr id="3" name="Content Placeholder 2">
            <a:extLst>
              <a:ext uri="{FF2B5EF4-FFF2-40B4-BE49-F238E27FC236}">
                <a16:creationId xmlns:a16="http://schemas.microsoft.com/office/drawing/2014/main" id="{665CC156-8E4C-B028-CA92-CF52A66E2D32}"/>
              </a:ext>
            </a:extLst>
          </p:cNvPr>
          <p:cNvSpPr>
            <a:spLocks noGrp="1"/>
          </p:cNvSpPr>
          <p:nvPr>
            <p:ph idx="1"/>
          </p:nvPr>
        </p:nvSpPr>
        <p:spPr/>
        <p:txBody>
          <a:bodyPr>
            <a:normAutofit/>
          </a:bodyPr>
          <a:lstStyle/>
          <a:p>
            <a:pPr marL="0" indent="0">
              <a:buNone/>
            </a:pPr>
            <a:r>
              <a:rPr lang="en-US" dirty="0"/>
              <a:t>Content authenticity and communications infrastructure. The FCC proposed enforcement actions and significant fines for apparently illegal robocalls using AI-generated voice cloning around the New</a:t>
            </a:r>
          </a:p>
          <a:p>
            <a:pPr marL="0" indent="0">
              <a:buNone/>
            </a:pPr>
            <a:r>
              <a:rPr lang="en-US" dirty="0"/>
              <a:t>Hampshire primary, highlighting that synthetic media can be </a:t>
            </a:r>
            <a:r>
              <a:rPr lang="en-US" dirty="0" err="1"/>
              <a:t>operationalised</a:t>
            </a:r>
            <a:r>
              <a:rPr lang="en-US" dirty="0"/>
              <a:t> quickly for deception at scale. From a governance viewpoint, this connects directly to provenance, watermarking, and platform disclosure obligations: governance must include supply chains for media authenticity, not just model </a:t>
            </a:r>
            <a:r>
              <a:rPr lang="en-US" dirty="0" err="1"/>
              <a:t>behaviour</a:t>
            </a:r>
            <a:r>
              <a:rPr lang="en-US" dirty="0"/>
              <a:t>.</a:t>
            </a:r>
          </a:p>
        </p:txBody>
      </p:sp>
    </p:spTree>
    <p:extLst>
      <p:ext uri="{BB962C8B-B14F-4D97-AF65-F5344CB8AC3E}">
        <p14:creationId xmlns:p14="http://schemas.microsoft.com/office/powerpoint/2010/main" val="3940351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2D02-F92F-EDD4-8A24-6ABF0A1E7C08}"/>
              </a:ext>
            </a:extLst>
          </p:cNvPr>
          <p:cNvSpPr>
            <a:spLocks noGrp="1"/>
          </p:cNvSpPr>
          <p:nvPr>
            <p:ph type="title"/>
          </p:nvPr>
        </p:nvSpPr>
        <p:spPr/>
        <p:txBody>
          <a:bodyPr/>
          <a:lstStyle/>
          <a:p>
            <a:r>
              <a:rPr lang="en-US" dirty="0"/>
              <a:t>Indirect Prompt Injections </a:t>
            </a:r>
          </a:p>
        </p:txBody>
      </p:sp>
      <p:sp>
        <p:nvSpPr>
          <p:cNvPr id="3" name="Content Placeholder 2">
            <a:extLst>
              <a:ext uri="{FF2B5EF4-FFF2-40B4-BE49-F238E27FC236}">
                <a16:creationId xmlns:a16="http://schemas.microsoft.com/office/drawing/2014/main" id="{C25AE068-B0D8-D086-6FDF-74E6D93D7916}"/>
              </a:ext>
            </a:extLst>
          </p:cNvPr>
          <p:cNvSpPr>
            <a:spLocks noGrp="1"/>
          </p:cNvSpPr>
          <p:nvPr>
            <p:ph idx="1"/>
          </p:nvPr>
        </p:nvSpPr>
        <p:spPr/>
        <p:txBody>
          <a:bodyPr>
            <a:normAutofit lnSpcReduction="10000"/>
          </a:bodyPr>
          <a:lstStyle/>
          <a:p>
            <a:pPr marL="0" indent="0">
              <a:buNone/>
            </a:pPr>
            <a:r>
              <a:rPr lang="en-US" dirty="0"/>
              <a:t>The most important “technical incident class” for GenAI applications is indirect prompt injection in RAG/agentic systems. Policy-facing security research from </a:t>
            </a:r>
            <a:r>
              <a:rPr lang="en-US" dirty="0" err="1"/>
              <a:t>CETaS</a:t>
            </a:r>
            <a:r>
              <a:rPr lang="en-US" dirty="0"/>
              <a:t> explains indirect prompt injection as malicious instructions inserted into data sources that a GenAI system will later ingest (emails, documents, web pages), allowing an attacker to steer </a:t>
            </a:r>
            <a:r>
              <a:rPr lang="en-US" dirty="0" err="1"/>
              <a:t>behaviour</a:t>
            </a:r>
            <a:r>
              <a:rPr lang="en-US" dirty="0"/>
              <a:t> without direct access to the prompt interface. This shifts the security model: your retrieval corpus and tool inputs become part of the model’s “programmable surface”, so governance must treat them like untrusted code. This is further reinforced by OWASP’s GenAI security work, which places prompt injection at the top of LLM application risks, and by the broader ecosystem’s threat catalogues (e.g., MITRE ATLAS)</a:t>
            </a:r>
          </a:p>
        </p:txBody>
      </p:sp>
    </p:spTree>
    <p:extLst>
      <p:ext uri="{BB962C8B-B14F-4D97-AF65-F5344CB8AC3E}">
        <p14:creationId xmlns:p14="http://schemas.microsoft.com/office/powerpoint/2010/main" val="4116147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648F-C385-CBD3-B766-C973E6048B5A}"/>
              </a:ext>
            </a:extLst>
          </p:cNvPr>
          <p:cNvSpPr>
            <a:spLocks noGrp="1"/>
          </p:cNvSpPr>
          <p:nvPr>
            <p:ph type="title"/>
          </p:nvPr>
        </p:nvSpPr>
        <p:spPr/>
        <p:txBody>
          <a:bodyPr/>
          <a:lstStyle/>
          <a:p>
            <a:r>
              <a:rPr lang="en-US" dirty="0"/>
              <a:t>Data Governance for GenAI </a:t>
            </a:r>
          </a:p>
        </p:txBody>
      </p:sp>
      <p:sp>
        <p:nvSpPr>
          <p:cNvPr id="3" name="Content Placeholder 2">
            <a:extLst>
              <a:ext uri="{FF2B5EF4-FFF2-40B4-BE49-F238E27FC236}">
                <a16:creationId xmlns:a16="http://schemas.microsoft.com/office/drawing/2014/main" id="{485F5FDA-D76E-FADB-E763-CED402849A2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83844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02BD0-B1B1-F653-528F-4CB2CB865B10}"/>
              </a:ext>
            </a:extLst>
          </p:cNvPr>
          <p:cNvSpPr>
            <a:spLocks noGrp="1"/>
          </p:cNvSpPr>
          <p:nvPr>
            <p:ph type="title"/>
          </p:nvPr>
        </p:nvSpPr>
        <p:spPr/>
        <p:txBody>
          <a:bodyPr/>
          <a:lstStyle/>
          <a:p>
            <a:r>
              <a:rPr lang="en-US" dirty="0"/>
              <a:t>Implementation Patterns  	</a:t>
            </a:r>
          </a:p>
        </p:txBody>
      </p:sp>
      <p:sp>
        <p:nvSpPr>
          <p:cNvPr id="3" name="Content Placeholder 2">
            <a:extLst>
              <a:ext uri="{FF2B5EF4-FFF2-40B4-BE49-F238E27FC236}">
                <a16:creationId xmlns:a16="http://schemas.microsoft.com/office/drawing/2014/main" id="{0951A042-26AE-888A-C90B-69B1A520BE37}"/>
              </a:ext>
            </a:extLst>
          </p:cNvPr>
          <p:cNvSpPr>
            <a:spLocks noGrp="1"/>
          </p:cNvSpPr>
          <p:nvPr>
            <p:ph idx="1"/>
          </p:nvPr>
        </p:nvSpPr>
        <p:spPr/>
        <p:txBody>
          <a:bodyPr>
            <a:normAutofit fontScale="92500" lnSpcReduction="10000"/>
          </a:bodyPr>
          <a:lstStyle/>
          <a:p>
            <a:r>
              <a:rPr lang="en-US" dirty="0"/>
              <a:t>Use a policy gateway that mediates every request and tool call; do not let the model directly hold high-privilege credentials.</a:t>
            </a:r>
          </a:p>
          <a:p>
            <a:r>
              <a:rPr lang="en-US" dirty="0"/>
              <a:t>Implement capability-based tool permissions (per-user, per-session tokens; scoped API keys; just-in- time access).</a:t>
            </a:r>
          </a:p>
          <a:p>
            <a:r>
              <a:rPr lang="en-US" dirty="0"/>
              <a:t>Add action confirmation for high-impact operations (payments, record deletion) and sandbox tools that interpret untrusted content (e.g., web browsing, file parsing) to limit indirect prompt injection damage.</a:t>
            </a:r>
          </a:p>
          <a:p>
            <a:r>
              <a:rPr lang="en-US" dirty="0"/>
              <a:t>Trade-offs: </a:t>
            </a:r>
            <a:r>
              <a:rPr lang="en-US" dirty="0">
                <a:highlight>
                  <a:srgbClr val="FFFF00"/>
                </a:highlight>
              </a:rPr>
              <a:t>strict controls reduce “agent autonomy” and can increase latency;</a:t>
            </a:r>
            <a:r>
              <a:rPr lang="en-US" dirty="0"/>
              <a:t> but they cap worst-case outcomes. In practice, the ROI is usually positive because a single exfiltration incident can dominate costs.</a:t>
            </a:r>
          </a:p>
        </p:txBody>
      </p:sp>
    </p:spTree>
    <p:extLst>
      <p:ext uri="{BB962C8B-B14F-4D97-AF65-F5344CB8AC3E}">
        <p14:creationId xmlns:p14="http://schemas.microsoft.com/office/powerpoint/2010/main" val="2841011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E67D-E1FF-65EC-9275-D73953769AC9}"/>
              </a:ext>
            </a:extLst>
          </p:cNvPr>
          <p:cNvSpPr>
            <a:spLocks noGrp="1"/>
          </p:cNvSpPr>
          <p:nvPr>
            <p:ph type="title"/>
          </p:nvPr>
        </p:nvSpPr>
        <p:spPr/>
        <p:txBody>
          <a:bodyPr>
            <a:normAutofit/>
          </a:bodyPr>
          <a:lstStyle/>
          <a:p>
            <a:r>
              <a:rPr lang="en-GB" dirty="0"/>
              <a:t>Evaluation, metrics, and red-teaming (turning intent into measurable gates)</a:t>
            </a:r>
            <a:endParaRPr lang="en-US" dirty="0"/>
          </a:p>
        </p:txBody>
      </p:sp>
      <p:sp>
        <p:nvSpPr>
          <p:cNvPr id="3" name="Content Placeholder 2">
            <a:extLst>
              <a:ext uri="{FF2B5EF4-FFF2-40B4-BE49-F238E27FC236}">
                <a16:creationId xmlns:a16="http://schemas.microsoft.com/office/drawing/2014/main" id="{A2BCFF14-3CB0-9532-6945-54259A99B2C2}"/>
              </a:ext>
            </a:extLst>
          </p:cNvPr>
          <p:cNvSpPr>
            <a:spLocks noGrp="1"/>
          </p:cNvSpPr>
          <p:nvPr>
            <p:ph idx="1"/>
          </p:nvPr>
        </p:nvSpPr>
        <p:spPr/>
        <p:txBody>
          <a:bodyPr>
            <a:normAutofit fontScale="62500" lnSpcReduction="20000"/>
          </a:bodyPr>
          <a:lstStyle/>
          <a:p>
            <a:r>
              <a:rPr lang="en-GB" dirty="0"/>
              <a:t>Technical explanation: GenAI governance cannot rely on traditional ML accuracy alone; you need multi-dimensional evaluation: capability, robustness, safety, security, privacy, and operational performance.</a:t>
            </a:r>
          </a:p>
          <a:p>
            <a:r>
              <a:rPr lang="en-US" dirty="0"/>
              <a:t>Implementation patterns:</a:t>
            </a:r>
          </a:p>
          <a:p>
            <a:pPr lvl="1"/>
            <a:r>
              <a:rPr lang="en-US" dirty="0"/>
              <a:t>Maintain evaluation suites by risk scenario (e.g., misinformation, medical advice, self-harm content, financial fraud, data exfiltration, jailbreaks).</a:t>
            </a:r>
          </a:p>
          <a:p>
            <a:pPr lvl="1"/>
            <a:r>
              <a:rPr lang="en-US" dirty="0"/>
              <a:t>Use regression gates in CI: no deploy if safety/security KPIs regress above threshold.</a:t>
            </a:r>
          </a:p>
          <a:p>
            <a:pPr lvl="1"/>
            <a:r>
              <a:rPr lang="en-US" dirty="0"/>
              <a:t>Run continuous red-teaming with tools that probe for known failure modes and system-specific vulnerabilities (prompt injection, data leakage, tool misuse).</a:t>
            </a:r>
          </a:p>
          <a:p>
            <a:r>
              <a:rPr lang="en-GB" dirty="0"/>
              <a:t>Tooling/library examples (open-source-first where possible):</a:t>
            </a:r>
          </a:p>
          <a:p>
            <a:pPr lvl="1"/>
            <a:r>
              <a:rPr lang="en-GB" dirty="0">
                <a:highlight>
                  <a:srgbClr val="00FFFF"/>
                </a:highlight>
              </a:rPr>
              <a:t>Inspect</a:t>
            </a:r>
            <a:r>
              <a:rPr lang="en-GB" dirty="0"/>
              <a:t> (LLM evaluation framework).</a:t>
            </a:r>
          </a:p>
          <a:p>
            <a:pPr lvl="1"/>
            <a:r>
              <a:rPr lang="en-GB" dirty="0">
                <a:highlight>
                  <a:srgbClr val="00FFFF"/>
                </a:highlight>
              </a:rPr>
              <a:t>Garak</a:t>
            </a:r>
            <a:r>
              <a:rPr lang="en-GB" dirty="0"/>
              <a:t> (LLM vulnerability scanner; 2026 docs show active evolution).</a:t>
            </a:r>
          </a:p>
          <a:p>
            <a:pPr lvl="1"/>
            <a:r>
              <a:rPr lang="en-GB" dirty="0" err="1">
                <a:highlight>
                  <a:srgbClr val="00FFFF"/>
                </a:highlight>
              </a:rPr>
              <a:t>Promptfoo</a:t>
            </a:r>
            <a:r>
              <a:rPr lang="en-GB" dirty="0"/>
              <a:t> (prompt/agent/RAG testing + CI integration).</a:t>
            </a:r>
          </a:p>
          <a:p>
            <a:r>
              <a:rPr lang="en-GB" dirty="0"/>
              <a:t>Metrics </a:t>
            </a:r>
          </a:p>
          <a:p>
            <a:pPr lvl="1"/>
            <a:r>
              <a:rPr lang="en-GB" dirty="0"/>
              <a:t>Policy violation rate (unsafe content, disallowed actions) and jailbreak success rate on canonical test packs.</a:t>
            </a:r>
          </a:p>
          <a:p>
            <a:pPr lvl="1"/>
            <a:r>
              <a:rPr lang="en-GB" dirty="0"/>
              <a:t>Grounding / faithfulness (answer supported by retrieved sources) in RAG.</a:t>
            </a:r>
          </a:p>
          <a:p>
            <a:pPr lvl="1"/>
            <a:r>
              <a:rPr lang="en-GB" dirty="0"/>
              <a:t>PII leakage rate (detected sensitive strings/entities in outputs).</a:t>
            </a:r>
          </a:p>
          <a:p>
            <a:pPr lvl="1"/>
            <a:r>
              <a:rPr lang="en-GB" dirty="0"/>
              <a:t>Operational: latency distribution, cost per successful task, tool-call error rate.</a:t>
            </a:r>
          </a:p>
          <a:p>
            <a:pPr lvl="1"/>
            <a:endParaRPr lang="en-GB" dirty="0"/>
          </a:p>
          <a:p>
            <a:pPr marL="0" indent="0">
              <a:buNone/>
            </a:pPr>
            <a:endParaRPr lang="en-GB" dirty="0"/>
          </a:p>
          <a:p>
            <a:endParaRPr lang="en-US" dirty="0"/>
          </a:p>
        </p:txBody>
      </p:sp>
    </p:spTree>
    <p:extLst>
      <p:ext uri="{BB962C8B-B14F-4D97-AF65-F5344CB8AC3E}">
        <p14:creationId xmlns:p14="http://schemas.microsoft.com/office/powerpoint/2010/main" val="477728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65B6D-E4BE-7BB9-60D4-AC691A052F7C}"/>
              </a:ext>
            </a:extLst>
          </p:cNvPr>
          <p:cNvSpPr>
            <a:spLocks noGrp="1"/>
          </p:cNvSpPr>
          <p:nvPr>
            <p:ph type="title"/>
          </p:nvPr>
        </p:nvSpPr>
        <p:spPr/>
        <p:txBody>
          <a:bodyPr>
            <a:normAutofit/>
          </a:bodyPr>
          <a:lstStyle/>
          <a:p>
            <a:r>
              <a:rPr lang="en-GB" dirty="0"/>
              <a:t>Safety layers and content policy enforcement (defence-in-depth)</a:t>
            </a:r>
            <a:endParaRPr lang="en-US" dirty="0"/>
          </a:p>
        </p:txBody>
      </p:sp>
      <p:sp>
        <p:nvSpPr>
          <p:cNvPr id="3" name="Content Placeholder 2">
            <a:extLst>
              <a:ext uri="{FF2B5EF4-FFF2-40B4-BE49-F238E27FC236}">
                <a16:creationId xmlns:a16="http://schemas.microsoft.com/office/drawing/2014/main" id="{60C1D1A1-7305-33DE-3081-F79C6DA66738}"/>
              </a:ext>
            </a:extLst>
          </p:cNvPr>
          <p:cNvSpPr>
            <a:spLocks noGrp="1"/>
          </p:cNvSpPr>
          <p:nvPr>
            <p:ph idx="1"/>
          </p:nvPr>
        </p:nvSpPr>
        <p:spPr/>
        <p:txBody>
          <a:bodyPr>
            <a:normAutofit fontScale="77500" lnSpcReduction="20000"/>
          </a:bodyPr>
          <a:lstStyle/>
          <a:p>
            <a:r>
              <a:rPr lang="en-GB" dirty="0"/>
              <a:t>Technical explanation: “model alignment” is not enough; production safety is a layered stack: pre‑prompt policies, input filters, model-level safety training, output filtering, and post‑processing validation. OpenAI’s system cards and preparedness framework describe layered approaches that combine evaluations, mitigations, and governance processes to determine whether deployment is acceptable.</a:t>
            </a:r>
          </a:p>
          <a:p>
            <a:r>
              <a:rPr lang="en-GB" dirty="0"/>
              <a:t>Implementation patterns: define a safety policy package versioned like code (rules, thresholds, evaluator configs) and deploy it as a runtime “shield” around the model. For multimodal systems, ensure safety layers operate across modalities (text/audio/image) and are evaluated accordingly.</a:t>
            </a:r>
          </a:p>
          <a:p>
            <a:r>
              <a:rPr lang="en-GB" dirty="0"/>
              <a:t>Trade-offs: safety layers create false positives (user friction) and can be bypassed if not tested </a:t>
            </a:r>
            <a:r>
              <a:rPr lang="en-GB" dirty="0" err="1"/>
              <a:t>adversarially</a:t>
            </a:r>
            <a:r>
              <a:rPr lang="en-GB" dirty="0"/>
              <a:t>; they also must be aligned with lawful use and policy.</a:t>
            </a:r>
          </a:p>
          <a:p>
            <a:r>
              <a:rPr lang="en-GB" dirty="0"/>
              <a:t>Metrics: refusal rate vs “unsafe acceptance rate”; rate of safety-layer overrides; and red-team delta (“how many jailbreaks succeed”) before vs after a policy change.</a:t>
            </a:r>
          </a:p>
          <a:p>
            <a:r>
              <a:rPr lang="en-GB" dirty="0"/>
              <a:t>Business implications: reduces legal/reputational exposure, improves trust; but over-restrictive filters can reduce adoption and ROI—so measure continuously.</a:t>
            </a:r>
          </a:p>
          <a:p>
            <a:endParaRPr lang="en-GB" dirty="0"/>
          </a:p>
          <a:p>
            <a:endParaRPr lang="en-GB" dirty="0"/>
          </a:p>
          <a:p>
            <a:endParaRPr lang="en-GB" dirty="0"/>
          </a:p>
          <a:p>
            <a:endParaRPr lang="en-GB" dirty="0"/>
          </a:p>
          <a:p>
            <a:endParaRPr lang="en-US" dirty="0"/>
          </a:p>
        </p:txBody>
      </p:sp>
    </p:spTree>
    <p:extLst>
      <p:ext uri="{BB962C8B-B14F-4D97-AF65-F5344CB8AC3E}">
        <p14:creationId xmlns:p14="http://schemas.microsoft.com/office/powerpoint/2010/main" val="2982107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017B7-0E2B-373A-AC97-1C7524CEB945}"/>
              </a:ext>
            </a:extLst>
          </p:cNvPr>
          <p:cNvSpPr>
            <a:spLocks noGrp="1"/>
          </p:cNvSpPr>
          <p:nvPr>
            <p:ph type="title"/>
          </p:nvPr>
        </p:nvSpPr>
        <p:spPr/>
        <p:txBody>
          <a:bodyPr>
            <a:normAutofit/>
          </a:bodyPr>
          <a:lstStyle/>
          <a:p>
            <a:r>
              <a:rPr lang="en-GB" dirty="0"/>
              <a:t>Interpretability and assurance (what you can and cannot operationalise today).</a:t>
            </a:r>
            <a:endParaRPr lang="en-US" dirty="0"/>
          </a:p>
        </p:txBody>
      </p:sp>
      <p:sp>
        <p:nvSpPr>
          <p:cNvPr id="3" name="Content Placeholder 2">
            <a:extLst>
              <a:ext uri="{FF2B5EF4-FFF2-40B4-BE49-F238E27FC236}">
                <a16:creationId xmlns:a16="http://schemas.microsoft.com/office/drawing/2014/main" id="{5FB56BBD-E6E5-6FC6-8ED9-D368CBE95DA7}"/>
              </a:ext>
            </a:extLst>
          </p:cNvPr>
          <p:cNvSpPr>
            <a:spLocks noGrp="1"/>
          </p:cNvSpPr>
          <p:nvPr>
            <p:ph idx="1"/>
          </p:nvPr>
        </p:nvSpPr>
        <p:spPr/>
        <p:txBody>
          <a:bodyPr>
            <a:normAutofit fontScale="62500" lnSpcReduction="20000"/>
          </a:bodyPr>
          <a:lstStyle/>
          <a:p>
            <a:r>
              <a:rPr lang="en-GB" dirty="0"/>
              <a:t>Technical explanation: interpretability is moving from purely academic to partially operational for frontier governance, but remains expensive and imperfect. Recent work from Anthropic uses dictionary learning / sparse autoencoders to extract interpretable features from large models, explicitly discussing engineering challenges of scaling interpretability. OpenAI is exploring training weight-sparse transformers to yield more interpretable circuits, motivated by making mechanistic interpretability tractable.</a:t>
            </a:r>
          </a:p>
          <a:p>
            <a:r>
              <a:rPr lang="en-GB" dirty="0"/>
              <a:t>Implementation patterns: treat interpretability as targeted assurance rather than a blanket requirement. Use it where you need stronger evidence: e.g., auditing unsafe tendencies, debugging misalignment in critical domains, or validating that safety “steering” is causally effective.</a:t>
            </a:r>
          </a:p>
          <a:p>
            <a:r>
              <a:rPr lang="en-GB" dirty="0"/>
              <a:t>Trade-offs: cost and latency (interpretability research can be model-specific); governance value comes from carefully choosing which risks require mechanistic evidence, not from attempting full transparency.</a:t>
            </a:r>
          </a:p>
          <a:p>
            <a:r>
              <a:rPr lang="en-GB" dirty="0"/>
              <a:t>Metrics: coverage of interpretability audits for high-risk behaviours; “steering effectiveness” (does manipulating identified features reduce harm without breaking utility); and reproducibility of findings across model versions.</a:t>
            </a:r>
          </a:p>
          <a:p>
            <a:r>
              <a:rPr lang="en-GB" dirty="0"/>
              <a:t>Business implications: interpretability can provide differentiated assurance for regulators/partners and reduce catastrophic tail risk, but it is not yet a cheap compliance checkbox—budget it like security research.</a:t>
            </a:r>
          </a:p>
          <a:p>
            <a:endParaRPr lang="en-US" dirty="0"/>
          </a:p>
        </p:txBody>
      </p:sp>
    </p:spTree>
    <p:extLst>
      <p:ext uri="{BB962C8B-B14F-4D97-AF65-F5344CB8AC3E}">
        <p14:creationId xmlns:p14="http://schemas.microsoft.com/office/powerpoint/2010/main" val="2422704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DB5F-1D2B-23B7-E668-38C90CA5193B}"/>
              </a:ext>
            </a:extLst>
          </p:cNvPr>
          <p:cNvSpPr>
            <a:spLocks noGrp="1"/>
          </p:cNvSpPr>
          <p:nvPr>
            <p:ph type="title"/>
          </p:nvPr>
        </p:nvSpPr>
        <p:spPr/>
        <p:txBody>
          <a:bodyPr>
            <a:normAutofit/>
          </a:bodyPr>
          <a:lstStyle/>
          <a:p>
            <a:r>
              <a:rPr lang="en-GB" dirty="0"/>
              <a:t>Provenance, watermarking, and content authenticity (especially for media generation).</a:t>
            </a:r>
            <a:endParaRPr lang="en-US" dirty="0"/>
          </a:p>
        </p:txBody>
      </p:sp>
      <p:sp>
        <p:nvSpPr>
          <p:cNvPr id="3" name="Content Placeholder 2">
            <a:extLst>
              <a:ext uri="{FF2B5EF4-FFF2-40B4-BE49-F238E27FC236}">
                <a16:creationId xmlns:a16="http://schemas.microsoft.com/office/drawing/2014/main" id="{9BB4EF62-4A88-BA30-42C2-A29797BD6282}"/>
              </a:ext>
            </a:extLst>
          </p:cNvPr>
          <p:cNvSpPr>
            <a:spLocks noGrp="1"/>
          </p:cNvSpPr>
          <p:nvPr>
            <p:ph idx="1"/>
          </p:nvPr>
        </p:nvSpPr>
        <p:spPr/>
        <p:txBody>
          <a:bodyPr/>
          <a:lstStyle/>
          <a:p>
            <a:r>
              <a:rPr lang="en-GB" dirty="0"/>
              <a:t>Technical explanation: provenance standards (like C2PA’s Content Credentials) encode signed claims and assertions about asset history and edits; watermarking technologies (like Google DeepMind’s </a:t>
            </a:r>
            <a:r>
              <a:rPr lang="en-GB" dirty="0" err="1"/>
              <a:t>SynthID</a:t>
            </a:r>
            <a:r>
              <a:rPr lang="en-GB" dirty="0"/>
              <a:t>) embed signals into generated content designed to survive transformations. NIST’s synthetic content work explicitly treats provenance metadata and digital watermarks as core technical approaches, alongside detection methods.</a:t>
            </a:r>
          </a:p>
          <a:p>
            <a:endParaRPr lang="en-US" dirty="0"/>
          </a:p>
        </p:txBody>
      </p:sp>
    </p:spTree>
    <p:extLst>
      <p:ext uri="{BB962C8B-B14F-4D97-AF65-F5344CB8AC3E}">
        <p14:creationId xmlns:p14="http://schemas.microsoft.com/office/powerpoint/2010/main" val="2332691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8D96-80D1-23DF-0273-CC6BE6BBB3F3}"/>
              </a:ext>
            </a:extLst>
          </p:cNvPr>
          <p:cNvSpPr>
            <a:spLocks noGrp="1"/>
          </p:cNvSpPr>
          <p:nvPr>
            <p:ph type="title"/>
          </p:nvPr>
        </p:nvSpPr>
        <p:spPr/>
        <p:txBody>
          <a:bodyPr>
            <a:normAutofit/>
          </a:bodyPr>
          <a:lstStyle/>
          <a:p>
            <a:r>
              <a:rPr lang="en-GB" dirty="0"/>
              <a:t>Post-training governance: RLHF, preference optimisation, and alignment techniques.</a:t>
            </a:r>
            <a:endParaRPr lang="en-US" dirty="0"/>
          </a:p>
        </p:txBody>
      </p:sp>
      <p:sp>
        <p:nvSpPr>
          <p:cNvPr id="3" name="Content Placeholder 2">
            <a:extLst>
              <a:ext uri="{FF2B5EF4-FFF2-40B4-BE49-F238E27FC236}">
                <a16:creationId xmlns:a16="http://schemas.microsoft.com/office/drawing/2014/main" id="{24108A23-5C43-D5CB-A7CA-8A34A2C9EA46}"/>
              </a:ext>
            </a:extLst>
          </p:cNvPr>
          <p:cNvSpPr>
            <a:spLocks noGrp="1"/>
          </p:cNvSpPr>
          <p:nvPr>
            <p:ph idx="1"/>
          </p:nvPr>
        </p:nvSpPr>
        <p:spPr/>
        <p:txBody>
          <a:bodyPr>
            <a:normAutofit/>
          </a:bodyPr>
          <a:lstStyle/>
          <a:p>
            <a:r>
              <a:rPr lang="en-GB" dirty="0"/>
              <a:t>Technical explanation: RLHF aligns models by collecting human preference data and optimising model outputs to match labelled preferences; alternatives such as DPO simplify optimisation while targeting similar objectives. Governance matters because preference data encodes value judgments and can introduce systematic bias. Research is increasingly studying what values are embedded in RLHF datasets (e.g., “Value Imprint” for auditing RLHF datasets), and 2026 work explores preference aggregation methods tied to representative panels—highlighting that alignment is not value-neutral.</a:t>
            </a:r>
          </a:p>
          <a:p>
            <a:endParaRPr lang="en-US" dirty="0"/>
          </a:p>
        </p:txBody>
      </p:sp>
    </p:spTree>
    <p:extLst>
      <p:ext uri="{BB962C8B-B14F-4D97-AF65-F5344CB8AC3E}">
        <p14:creationId xmlns:p14="http://schemas.microsoft.com/office/powerpoint/2010/main" val="285861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D5479-607A-7C9B-147C-B9A3883E7FCF}"/>
              </a:ext>
            </a:extLst>
          </p:cNvPr>
          <p:cNvSpPr>
            <a:spLocks noGrp="1"/>
          </p:cNvSpPr>
          <p:nvPr>
            <p:ph type="title"/>
          </p:nvPr>
        </p:nvSpPr>
        <p:spPr/>
        <p:txBody>
          <a:bodyPr>
            <a:normAutofit/>
          </a:bodyPr>
          <a:lstStyle/>
          <a:p>
            <a:r>
              <a:rPr lang="en-GB" dirty="0"/>
              <a:t>Secure deployment, </a:t>
            </a:r>
            <a:r>
              <a:rPr lang="en-GB" dirty="0" err="1"/>
              <a:t>DevSecOps</a:t>
            </a:r>
            <a:r>
              <a:rPr lang="en-GB" dirty="0"/>
              <a:t>, SRE, and incident response</a:t>
            </a:r>
            <a:endParaRPr lang="en-US" dirty="0"/>
          </a:p>
        </p:txBody>
      </p:sp>
      <p:sp>
        <p:nvSpPr>
          <p:cNvPr id="3" name="Content Placeholder 2">
            <a:extLst>
              <a:ext uri="{FF2B5EF4-FFF2-40B4-BE49-F238E27FC236}">
                <a16:creationId xmlns:a16="http://schemas.microsoft.com/office/drawing/2014/main" id="{AE61A22E-2D93-A3CD-5C2B-B1C82E67D13E}"/>
              </a:ext>
            </a:extLst>
          </p:cNvPr>
          <p:cNvSpPr>
            <a:spLocks noGrp="1"/>
          </p:cNvSpPr>
          <p:nvPr>
            <p:ph idx="1"/>
          </p:nvPr>
        </p:nvSpPr>
        <p:spPr/>
        <p:txBody>
          <a:bodyPr>
            <a:normAutofit/>
          </a:bodyPr>
          <a:lstStyle/>
          <a:p>
            <a:r>
              <a:rPr lang="en-GB" dirty="0"/>
              <a:t>Technical explanation: GenAI systems are software systems with new failure modes; governance must integrate with security engineering and reliability engineering rather than duplicating them. Supply chain integrity frameworks like SLSA define provenance and assurance levels for build artefacts; CISA’s evolving SBOM guidance reflects a maturing expectation that software component transparency is foundational for risk management.</a:t>
            </a:r>
          </a:p>
          <a:p>
            <a:endParaRPr lang="en-US" dirty="0"/>
          </a:p>
        </p:txBody>
      </p:sp>
    </p:spTree>
    <p:extLst>
      <p:ext uri="{BB962C8B-B14F-4D97-AF65-F5344CB8AC3E}">
        <p14:creationId xmlns:p14="http://schemas.microsoft.com/office/powerpoint/2010/main" val="992542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261</TotalTime>
  <Words>3020</Words>
  <Application>Microsoft Macintosh PowerPoint</Application>
  <PresentationFormat>Widescreen</PresentationFormat>
  <Paragraphs>203</Paragraphs>
  <Slides>21</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Aptos</vt:lpstr>
      <vt:lpstr>Aptos Display</vt:lpstr>
      <vt:lpstr>Arial</vt:lpstr>
      <vt:lpstr>Calibri</vt:lpstr>
      <vt:lpstr>Office Theme</vt:lpstr>
      <vt:lpstr>1_Office Theme</vt:lpstr>
      <vt:lpstr>AI Governance…</vt:lpstr>
      <vt:lpstr>AI Governance – the Why </vt:lpstr>
      <vt:lpstr>Governance is…</vt:lpstr>
      <vt:lpstr>AI Governances as AI Control Plane </vt:lpstr>
      <vt:lpstr>AI Governances as AI Control Plane </vt:lpstr>
      <vt:lpstr>PowerPoint Presentation</vt:lpstr>
      <vt:lpstr>The Power Shift </vt:lpstr>
      <vt:lpstr>AI governance = organisational governance + technical assurance.</vt:lpstr>
      <vt:lpstr>PowerPoint Presentation</vt:lpstr>
      <vt:lpstr>AI Governance Scope </vt:lpstr>
      <vt:lpstr>AI Governance </vt:lpstr>
      <vt:lpstr>Content Authenticity </vt:lpstr>
      <vt:lpstr>Indirect Prompt Injections </vt:lpstr>
      <vt:lpstr>Data Governance for GenAI </vt:lpstr>
      <vt:lpstr>Implementation Patterns   </vt:lpstr>
      <vt:lpstr>Evaluation, metrics, and red-teaming (turning intent into measurable gates)</vt:lpstr>
      <vt:lpstr>Safety layers and content policy enforcement (defence-in-depth)</vt:lpstr>
      <vt:lpstr>Interpretability and assurance (what you can and cannot operationalise today).</vt:lpstr>
      <vt:lpstr>Provenance, watermarking, and content authenticity (especially for media generation).</vt:lpstr>
      <vt:lpstr>Post-training governance: RLHF, preference optimisation, and alignment techniques.</vt:lpstr>
      <vt:lpstr>Secure deployment, DevSecOps, SRE, and incident response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Özgür Güler</dc:creator>
  <cp:lastModifiedBy>Özgür Güler</cp:lastModifiedBy>
  <cp:revision>12</cp:revision>
  <dcterms:created xsi:type="dcterms:W3CDTF">2026-02-23T10:44:34Z</dcterms:created>
  <dcterms:modified xsi:type="dcterms:W3CDTF">2026-02-23T15:05:59Z</dcterms:modified>
</cp:coreProperties>
</file>