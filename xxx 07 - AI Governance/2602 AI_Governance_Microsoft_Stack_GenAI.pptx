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notesMasterIdLst>
    <p:notesMasterId r:id="rId10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(1) AI Governance in the Microsoft Stack (20pp), (2) Technical analysis of AI governance for generative AI (23pp).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goal: be detailed enough that engineering teams can implement from it, and governance teams can audit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platform engineering, app teams, SOC, risk/compliance. Use section headers as stopping points.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governance report p.1–2. Key framing: governance must be end-to-end, not “model-only”.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pp.1,9–13. Use this slide to justify why “paper policies” are no longer defensible.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p.2–3. “Incident class → missing control” is the persuasion pattern.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p.3 (CETaS + OWASP risk framing).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Technical analysis of AI governance for generative AI (p. 3–4).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p.1,4,9,16–19. These primitives map cleanly onto Microsoft stack (Foundry + Purview + Defender + Sentinel).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p.4–5. Keep inventory friction low or adoption collapses.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p.5. This maps to Purview labels/DLP + retrieval ACL enforcement in Azure AI Search/SharePoint.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p.5–6. In Microsoft stack: Entra + Managed Identity + APIM + tool allow-lists.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p.6,16–17. In Microsoft stack: Foundry evaluations + observability + Content Safety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p.6–7; Microsoft report p.6–7 (Prompt Shields, groundedness, protected material).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p.7. Use this slide to resist “interpretability as checkbox” while still acknowledging its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p.7–8.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p.9. This maps to Microsoft guidance on layered controls + monitoring + runbooks.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p.1–2. Core message: governance emerges from composition, not one control plane.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 Governance in the Microsoft Stack (pp. 1–2).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p.1–2,5–7,16. Use this to position Foundry vs Azure Policy vs SOC tooling.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p.1–3,5–9.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p.1,12–13.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p.2–3. Use this slide as a “map legend” for later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 Governance in the Microsoft Stack (p. 4–7).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AI Governance in the Microsoft Stack (p. 5–9,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p.6–7.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p.6–8.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p.7–9,12.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p.8,12.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p.9–11.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p.11 + GenAI report p.16–19.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p.12–13.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p.12–13.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p.13–14.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p.3,8,13–15.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p.14–15.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p.14–15.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p.18–19; Microsoft stack report p.11–13.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Microsoft stack report p.16–20.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GenAI report p.9–18.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9659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for GenAI in the Microsoft Stack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13232" y="2971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narrative: controls, architectures, baselines, and operational runbooks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5120640"/>
            <a:ext cx="1078992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532180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from two February 2026 technical reports. Designed for engineering, security, and compliance leaders.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 deck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a “governance-as-engineering” deck: decision rights + executable controls + measurable evidence.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cover both: (a) generic GenAI governance primitives, and (b) Microsoft-stack implementations (Foundry/Copilot/Purview/Defender/Sentinel).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control is framed as: what it prevents, where it is enforced, and what evidence proves it works.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Appendix includes full page captures of both source PDFs for completeness and auditability.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Why GenAI governance is different (incident-driven, system-level risks).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architecture: Build → Run → Observe control plane.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governance primitives: inventory, tiering, eval gates, policy-as-code, logging, supply chain, incident response.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stack: how Entra, Purview, Defender, Sentinel, Azure Policy, Foundry, Copilot fit together.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patterns: Azure LLM apps and Microsoft 365 Copilot/agents.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Baselines + checklists + IaC patterns; operational runbooks; known gaps and mitigations.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Standards/regulatory landscape (2024–2026) + roadmap to “top 1%” operational capability.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Why Governance Now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turns “model risk” into “system risk”: data + tools + context.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definition (GenAI)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governance = organisational governance + technical assurance.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Organisational: roles, decision rights, accountability, assurance obligations.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Technical: measurement, control, traceability mechanisms that make obligations testable/auditable.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GenAI, behaviour is prompt-programmable and context-dependent; risks often enter outside the model weights (RAG, tools, permissions).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Regulatory/standards shift (2024–2026): what changed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entered into force (2024) with phased obligations; GPAI obligations apply from Aug 2025; broad applicability Aug 2026.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 OMB Memo M-24-10 (Mar 2024) sets minimum governance practices for federal agencies (risk management, accountability).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 GA (2024) resolution emphasizes “safe, secure, trustworthy” AI and international cooperation on safeguards.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Standards are converging on management-system + risk + testing: ISO/IEC 42001, ISO/IEC 23894, and explicit AI testing series.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that map directly to missing controls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Chatbot misrepresentation → legal liability (Air Canada tribunal): org remains responsible for AI output on its website.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Image-generation safety failure → feature paused (Gemini, Feb 2024): naive global safety tuning creates new failure modes.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voice deepfakes used for election robocalls → enforcement actions: authenticity/provenance becomes a governance requirement.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Lesson: governance must be technical (grounding, evals, monitoring, provenance), not aspirational.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GenAI application failure mode: indirect prompt injection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RAG/agent systems, untrusted content (emails/docs/web pages) becomes part of the model’s programmable surface.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Attack: embed malicious instructions in retrieved content; model ingests and follows them without direct attacker access to the prompt UI.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Implication: treat retrieval corpora + tool inputs like untrusted code → sandbox + least privilege + allow-lists + traceability.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Operationally: you need detectors (Prompt Shields), tool gating, and red-team regression suites.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Governance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executable control plane across Build, Run, and Observe.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governance architecture: Build → Run → Observe (control plane)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11094415" cy="1508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9903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CHANGE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104543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Use-case registration + risk tiering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governance: lineage, consent, PII controls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selection / fine-tuning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eval gate: quality/safety/security/privacy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Release artefacts: system card + policy package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Signed supply chain: SBOM/ML-BOM + provenance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67248" y="2697480"/>
            <a:ext cx="457200" cy="320040"/>
          </a:xfrm>
          <a:prstGeom prst="down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71800"/>
            <a:ext cx="11094415" cy="15087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3639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 PLANE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104543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&amp; policy gateway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 retrieval + tool router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endpoint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validation &amp; safety layers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logging + audit (prompt/retrieval/tool traces)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67248" y="4434840"/>
            <a:ext cx="457200" cy="320040"/>
          </a:xfrm>
          <a:prstGeom prst="down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4709160"/>
            <a:ext cx="11094415" cy="15087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7375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166360"/>
            <a:ext cx="1045433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Monitoring: safety KPIs, misuse, cost, latency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Incident response: triage, containment, rollback/kill-switch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red-teaming + regression tests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Post-mortems feed back into eval suites + policies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Control-plane primitives (what “good” looks like)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Complete asset inventory: models, prompts/policies, datasets, retrieval corpora, tools/actions, endpoints, owners.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 tiering by use case: high-impact use cases require heavier gates and stronger runtime constraints.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gates: capability + safety + security + privacy + operational budgets (latency/cost).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Policy-as-code enforcement at runtime: prompt/policy gateway mediates tool calls and data access.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High-quality logs/audit trails: prompt, retrieval, tool-call traces; reproducible incident replay.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Supply-chain integrity: SBOM + provenance attestations; extend toward ML-BOM/AI-BOM.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GenAI-specialised incident response: rollback/kill-switches; post-incident tests so failures don’t return.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11/102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inventory &amp; AI-BOM (foundation of every other control)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You cannot govern what you cannot enumerate.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Minimum inventory for GenAI: model + prompt templates/policies + corpora + tools/actions + endpoints + data classes + change owners.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2026 practice trends: move beyond SBOM to ML-BOM/AI-BOM concepts so models/datasets are first-class components.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inventory in CI/CD: new models/prompts/tools cannot deploy unless registered and risk-tiered.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12/102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for GenAI: treat RAG corpora as governed datasets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GenAI risk is data risk: sensitive retrieval, poisoned corpora, illegal training data, feedback loops encoding bad values.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RAG: classify documents, enforce ACLs at retrieval time, version corpora, and log retrieval results with prompts/responses.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 fine-tuning: define data admissibility rules (licensing, consent, PII) + dataset documentation (datasheets).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Trade-off: stronger governance reduces agility; mitigate with automation and “paved roads”.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13/102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access, and secure tool use: the “blast radius” knob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Catastrophic failures happen when an LLM can act (tools) or exfiltrate (data).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least privilege outside the model: capability-based tool permissions, JIT access, per-session tokens.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let the model hold high-privilege credentials; mediate tool calls via a policy gateway.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tools that parse untrusted content (browsing, file parsing) to limit injection damage.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14/102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red-teaming as code (turn intent into measurable gates)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GenAI governance needs multi-dimensional evaluation: capability, robustness, safety, security, privacy, and ops performance.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suites by risk scenario (jailbreaks, data exfiltration, misinformation, domain-specific harms).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regression gates in CI: no deploy if safety/security KPIs regress above thresholds.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baseline tooling: evaluation harness (Inspect), vulnerability probing (Garak), and test-as-code for prompts/agents/RAG (Promptfoo).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15/102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layers: defence-in-depth (alignment is not enough)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safety is a layered stack: pre-prompt policies → input filters → model safety → output filtering → post-processing validation.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a versioned “policy package” as code (rules, thresholds, evaluators).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Measure: refusal rate vs unsafe acceptance; override rate; jailbreak success delta before/after policy changes.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groundedness as both quality and risk signal in RAG apps.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16/102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 &amp; assurance: targeted, not blanket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Interpretability is becoming partially operational (e.g., feature extraction via sparse autoencoders), but remains expensive/imperfect.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it surgically: audit unsafe tendencies, debug misalignment in critical domains, validate that “steering” is causally effective.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value: reduce catastrophic tail risk and provide stronger evidence to regulators/partners—budget like security research.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17/102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&amp; authenticity (especially for media)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 standards (C2PA Content Credentials) provide signed claims about asset history and edits.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Watermarking (e.g., SynthID) embeds signals intended to survive transformations—still attackable; ecosystem adoption uneven.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should build internal provenance chains regardless: model version + prompt template + policy version + retrieval hashes per output.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detectability under transformations + false positives/negatives + metadata survival rate.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18/102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a control (not a PDF)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cards, system cards, and datasheets are release artefacts that encode intended use, evaluation results, and limitations.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documentation automatically from pipelines (metrics, lineage, eval results) and version it like code.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Documentation freshness is a KPI: stale docs are a governance/supply-chain risk.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+ SRE + incident response (GenAI-specific)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model artefacts (weights/adapters/prompt packages) like deployable binaries: signing + provenance + rollbacks.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Logs must support incident replay: prompt, policy version, retrieval trace, tool calls, model version pinning.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kill-switches for tools and risky scenarios; post-incident, expand eval suites to prevent recurrence.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MTTD/MTTR, reproducibility rate, and change-failure rate for prompt/model updates.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20/102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Microsoft Stack: Control Planes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Entra + Purview + Defender + Sentinel + Policy + Foundry + Copilot.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21/102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synthesis: Microsoft “built-in” governance is a stack pattern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+ access governance (Entra, RBAC, PIM, Conditional Access).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governance for AI interactions (Purview labels, DLP, audit, eDiscovery, retention; DSPM for AI).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safety guardrails (content filters + prompt injection defences + groundedness/protected material).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 posture + threat protection (Defender for Cloud AI SPM + AI threat protection; XDR/Sentinel correlation).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Observability + monitoring (Foundry observability + App Insights/OpenTelemetry; Azure ML monitoring).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governance (Copilot Control System + admin centre; connector governance; controlled rollouts; validation tests).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22/102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Microsoft-stack AI governance as a layered control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234440"/>
            <a:ext cx="5212080" cy="6858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344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Access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581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(RBAC, PIM, Conditional Access), Managed Identity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2084832"/>
            <a:ext cx="5212080" cy="68580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94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 for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323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Purview: labels, DLP, audit, eDiscovery, retention; DSPM for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935224"/>
            <a:ext cx="521208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044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2826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filters, Prompt Shields, groundedness, protected material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3785616"/>
            <a:ext cx="521208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89534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+ Threat Protection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133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for Cloud AI SPM + AI threat protection; XDR/Sentinel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636008"/>
            <a:ext cx="521208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7457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+ Monitoring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983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observability + App Insights; Azure ML monitoring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5486400"/>
            <a:ext cx="5212080" cy="685800"/>
          </a:xfrm>
          <a:prstGeom prst="round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55961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Governance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5833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Control System; connector hygiene; rollout + runbooks + tests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20840" y="1234440"/>
            <a:ext cx="4937760" cy="5257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14173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governance is composition, not a single product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95160" y="1965960"/>
            <a:ext cx="452628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Foundry = Azure-side fleet governor (guardrail policies + observability).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= evidence bus (labels/DLP/audit/eDiscovery for AI interactions).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Defender + Sentinel = posture + detection/response loop.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Control System + admin centre = M365 agent/connector governance.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Policy + IaC = enforce baselines at scale.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takeaway: even “correct” controls can fail (vendor bugs). Treat governance as continuous assurance with detection + verification tests + kill switches.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23/102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Control Plane: the Azure-side “fleet governor”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is converging Azure AI governance around “Microsoft Foundry” and Foundry Control Plane.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plane primitives: guardrail policies (minimum safety controls) + operational surfaces integrating Defender for Cloud and Purview.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Foundry Control Plane as the AI fleet governor for Azure-side agents/models, while Azure Policy remains org-wide enforcement.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 pattern: policy-as-code baselines + continuous validation (Defender) + evidence capture (Purview).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24/102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governance: inherits M365 boundaries but depends on data posture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inherits existing M365 security boundaries (permissions, labels, Conditional Access).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is only as safe as the underlying data posture: overshared SharePoint sites, weak labeling, unmanaged connectors.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Control System + Purview DSPM for AI act as the admin “control tower” for Copilot/agents.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must include rollout throttles and continuous verification, not “set and forget”.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25/102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operational truth: controls can fail due to product defects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Jan–Feb 2026: Copilot Chat bug (service advisory CW1226324) could summarise confidential-labelled emails (Outlook Drafts/Sent Items).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lesson: layered controls + detection + verification tests are mandatory; not all bypasses are observable at the perimeter.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programs need kill-switch playbooks: disable/limit features fast while triaging scope.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26/102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inventory: map governance domains to Microsoft surfaces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 enforcement: Azure Policy + Foundry guardrail policies; M365 admin centre controls for Copilot/agents.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Access control: Azure RBAC + managed identities; Entra admin roles + PIM + Conditional Access.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protection: private endpoints, CMK, encryption; Purview labels/DLP/DSPM; data residency for Copilot stores.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Monitoring/audit: Azure diagnostics → Log Analytics; Foundry observability; Purview Audit + retention/eDiscovery; Sentinel connectors.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Lifecycle/change mgmt: Foundry model retirements + evaluations; agent inventory and connector governance.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27/102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responsibility: assign controls by who can enforce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Provider: baseline content filtering, abuse monitoring, and platform primitives (RBAC, audit surfaces).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platform/security: least privilege design, Conditional Access, PIM, data classification and DLP, posture management, SOC detections.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App/agent builders: prompt/response validation, tool gating, groundedness checks, safe tool invocation, and telemetry emission.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Anti-theatre rule: if no one owns the enforcement surface, the control doesn’t exist.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28/102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Reference Architectures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agents + governance evidence loops.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29/102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Azure-side LLM app governance (RAG + tool use + fleet controls)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25880"/>
            <a:ext cx="2971800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Client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71700" y="1965960"/>
            <a:ext cx="274320" cy="256032"/>
          </a:xfrm>
          <a:prstGeom prst="down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2971800" cy="658368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402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 Door / APIM)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71700" y="2880360"/>
            <a:ext cx="274320" cy="256032"/>
          </a:xfrm>
          <a:prstGeom prst="downArrow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154680"/>
            <a:ext cx="2971800" cy="65836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(AppSvc / AKS / Functions)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1508760"/>
            <a:ext cx="2971800" cy="5943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581912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/ Foundry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51960" y="2304288"/>
            <a:ext cx="2971800" cy="5943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2377440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(filters, Prompt Shields, groundedness)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51960" y="3099816"/>
            <a:ext cx="2971800" cy="59436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3172968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Layer (RAG)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51960" y="3895344"/>
            <a:ext cx="2971800" cy="594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3968496"/>
            <a:ext cx="269748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77640" y="3483864"/>
            <a:ext cx="274320" cy="-1677924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77640" y="3483864"/>
            <a:ext cx="274320" cy="-882396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77640" y="3483864"/>
            <a:ext cx="274320" cy="-86868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77640" y="3483864"/>
            <a:ext cx="274320" cy="70866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89520" y="1143000"/>
            <a:ext cx="40233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1325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+ Evidence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1691640"/>
            <a:ext cx="3611880" cy="4709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Policy: baseline enforcement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Defender for Cloud: AI SPM + threat protection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Purview: audit, DLP, eDiscovery; DSPM for AI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Monitor/Log Analytics: diagnostics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Sentinel: SIEM detections + hunting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Foundry Control Plane: guardrail policies + fleet ops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30/102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Azure-side pattern: the key integrations that make it “governable”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 isolation: private endpoints for Azure OpenAI; remove public endpoints by default for regulated workloads.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Identity: prefer Entra + managed identity; avoid secrets; store remaining secrets in Key Vault with logging.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Safety: combine content filters with Prompt Shields + groundedness detection + protected material detection.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Telemetry: Azure OpenAI diagnostic settings → Log Analytics; Foundry observability + OpenTelemetry traces for agents/tool calls.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&amp; SOC: Purview for auditable prompts/responses; Sentinel for detections/hunting; Defender XDR correlation.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31/102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Microsoft 365 Copilot governance (data readiness + oversharing control)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2926080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463040"/>
            <a:ext cx="2926080" cy="731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1463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Copilot Chat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06640" y="1463040"/>
            <a:ext cx="2926080" cy="7315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463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Semantic Index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2743200"/>
            <a:ext cx="29260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74320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OneDrive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3749040"/>
            <a:ext cx="29260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7490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4754880"/>
            <a:ext cx="2926080" cy="7315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47548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1828800"/>
            <a:ext cx="365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1828800"/>
            <a:ext cx="365760" cy="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69680" y="2194560"/>
            <a:ext cx="0" cy="54864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69680" y="2194560"/>
            <a:ext cx="0" cy="155448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869680" y="2194560"/>
            <a:ext cx="0" cy="2560320"/>
          </a:xfrm>
          <a:prstGeom prst="line">
            <a:avLst/>
          </a:prstGeom>
          <a:noFill/>
          <a:ln w="1270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2423160"/>
            <a:ext cx="6172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that actually move risk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2971800"/>
            <a:ext cx="5715000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Sensitivity labels = persistent classification/protection.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DLP policy location “Microsoft 365 Copilot and Copilot Chat”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can block prompts/grounding; propagation delay up to ~4 hours.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Restricted SharePoint Search = blast-radius throttle during rollout.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centre: manage agents, connectors, web search, external providers.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Audit + retention/eDiscovery: prompt/response discoverability.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loop: Sentinel ingestion + detections + XDR correlation.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failure mode: Copilot surfaces what users can access — even if they “shouldn’t” in practice. Fix oversharing first.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32/102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integration: from “policy definitions” to measurable detections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Evidence: Purview Audit captures Copilot/AI interactions; retention/eDiscovery preserve investigation trails.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Ingestion: Microsoft Copilot data connector for Sentinel ingests Copilot logs via the Purview Unified Audit Log (public preview Feb 2026).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Detection engineering: build alerts on risky AI usage, exfil attempts, policy bypass indicators, anomalous agent usage spikes.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Outcome: AI governance becomes measurable—governance is not complete until you can detect/triage incidents.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33/102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Baselines, Checklists, IaC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governance deployable and testable.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34/102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workload baseline (minimum viable governance)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Identity &amp; secrets: managed identities + Entra auth; Key Vault for secrets; log Key Vault operations.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private endpoints for Azure OpenAI; endpoint restrictions where VNet integration is not supported.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guardrails: configure content filters; enable Prompt Shields; add groundedness and protected material detection where relevant.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Monitoring: enable diagnostic settings → Log Analytics; build KQL dashboards and alert rules.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Posture &amp; threat protection: enable Defender for Cloud AI security posture management + AI threat protection; integrate into XDR.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35/102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 baseline (minimum viable governance)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posture first: sensitivity label taxonomy + adoption plan; remediate oversharing in SharePoint/OneDrive.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Rollout throttle: Restricted SharePoint Search to limit Copilot/search blast radius during remediation.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controls: configure DLP policy location for “Microsoft 365 Copilot and Copilot Chat” (test propagation and boundaries).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Audit/compliance: Purview Audit for AI interactions; retention and eDiscovery specifically for Copilot/AI app data.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centre governance: explicit agent inventory controls (allow/block/remove) + connector governance; manage web search + external providers.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36/102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governance = Power Platform governance + AI-specific knobs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environment-level data policies (DLP) to control connectors, HTTP requests, knowledge sources, and publishing channels.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“Enable external models / BYOM” as a governance decision requiring environment scoping and approvals.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not assume M365 Copilot DLP policy location governs Copilot Studio agents—policy stacks are distinct; test separately.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connecting Copilot Studio to Azure OpenAI “on your data”, treat prerelease documentation as evolving and design for change.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37/102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Azure LLM apps — minimum viable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Private endpoints enabled; public endpoints disabled where possible.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identity for app → downstream services; no secrets in code.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Content filters configured and change-controlled.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Shields enabled; blocks are logged for SOC visibility.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Diagnostics routed to Log Analytics; KQL queries validated.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Defender for Cloud AI SPM enabled; recommendations visible (IaC checks).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38/102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Checklist: Microsoft 365 Copilot — minimum viable governance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Sensitivity label taxonomy + adoption KPIs (auto-labelling where feasible).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DLP policy location for Copilot configured and tested (simulation + propagation).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Restricted SharePoint Search during rollout; rollback plan documented.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Audit + retention/eDiscovery for AI interactions; investigation readiness proven.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inventory governance: allowed/blocked agents visible; approval workflow exists.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39/102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Policy-as-code patterns (IaC) for governance controls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Monitor diagnostic settings per-resource (Azure OpenAI) → Log Analytics workspace.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Customer-managed keys (CMK) pattern via Key Vault where supported by Azure AI services.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Policy assignments for AI workload baselines (built-in defs / initiatives).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Principle: every control must be deployable and drift-detectable (CI checks + Defender posture).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40/102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Operations &amp; Runbooks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becomes real during incidents.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41/102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suspected sensitive-data exposure via Copilot/agent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Triage: identify user(s), time window, entry point; use Purview Audit to reconstruct interaction trail.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Contain: block/remove risky agents or disable scenarios (e.g., web search) via admin centre controls.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Preserve evidence: confirm retention policies; open eDiscovery case to preserve/collect prompts/responses.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Root cause: oversharing vs label/DLP gap vs connector path vs known product issue.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Remediate: fix permissions; expand labelling/auto-labelling; tighten Copilot DLP rules; re-enable progressively.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Harden detection: forward signals to Sentinel and build anomaly detections (spikes, unusual sensitive prompts).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42/102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Runbook: prompt injection / jailbreak attempt against Azure LLM app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Detect: Prompt Shields events, content filter hits, Defender AI threat protection alerts (jailbreak patterns).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Contain: block offending identities/tokens; add WAF/rate limits; disable high-risk tools temporarily.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Analyse: use correlated OpenTelemetry traces to inspect tool calls, prompt chains, and data sources.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Remediate: patch prompts/tool routers; enforce tool allow-lists; add groundedness gates; expand adversarial eval datasets.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Prevent recurrence: add regression tests in CI (jailbreak + tool misuse suites).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43/102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assurance: control verification tests + kill-switches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bugs can bypass “correct” policy configurations (CW1226324 lesson).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Institute periodic control verification tests (monthly/quarterly): DLP blocks, label exclusions, oversharing scans, tool gating.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conditional kill-switches for risky features: web search, external connectors, high-privilege tools.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Governance KPI: time-to-disable (TTD) for high-risk features during active incidents.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44/102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Gaps, Threat Models, Compliance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around limitations; map threats → controls → evidence.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45/102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you must design around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effectiveness can be undermined by vendor defects → treat governance as continuous assurance.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DLP policy location has explicit coverage/latency constraints (updates can take up to ~4 hours; email coverage boundaries).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Studio and Microsoft 365 Copilot governance are not identical; policies do not automatically transfer.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control coverage varies across third-party AI apps; plan least-common-denominator governance for multi-LLM.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Preview features (Foundry evals/observability) should augment, not replace, primary compliance controls unless risk is accepted.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46/102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model: OWASP LLM risks mapped to Microsoft controls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Prompt injection/jailbreak: Prompt Shields + Defender AI threat protection + Copilot protections; still require tool allow-lists and red-team evals.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Sensitive info disclosure: Restricted SharePoint Search + DLP Copilot location + sensitivity labels; primary fix is oversharing remediation.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Supply chain/provider drift: admin-controlled external providers + Foundry model retirements + evaluations; require change approvals + golden evals.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Abuse/misuse of endpoints: Azure abuse monitoring + content filters; add rate limits + usage anomaly alerts.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“Invisible layer” failures: rely on audit visibility + Sentinel detections + periodic verification tests + kill-switch playbooks.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47/102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mapping (control-family approach)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GDPR: least privilege, encryption, auditability, minimisation, data residency awareness → Entra + Purview + Copilot DLP + residency controls.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HIPAA: safeguards + BAA posture → strict access controls, encryption/CMK where required, audit logs, scoped services, IR readiness.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27001: continuous compliance evidence + policy enforcement → Azure Policy initiatives + Defender regulatory compliance + audit readiness.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regulatory preparedness: use Compliance Manager assessments + Responsible AI governance artefacts adapted to your org.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48/102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governance inside Microsoft ecosystems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and Copilot Studio can enable external providers / BYOM scenarios (where supported).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provider change as a governed release: approvals + pinned evaluation suites + regression monitoring.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Evidence must remain consistent across providers: interaction logging, DLP enforcement boundaries, incident response playbooks.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49/102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Roadmap to “Top 1%”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capability = policy-as-code + evidence-as-data + AI SOC lane.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50/102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“top 1%” looks like in practice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Policy-as-code + evidence-as-data: every control is deployable config and produces auditable telemetry.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threat modelling (OWASP LLM risks) translated into Microsoft-native controls and validated with red teaming + eval gates.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Operate an “AI SOC lane”: Copilot/agent events + Azure AI events are ingested, detected, triaged, and measured like other workloads.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for platform drift: model retirements/provider changes + vendor issues; maintain verification tests and kill-switches.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51/102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path (high-level milestones)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Weeks 1–4: Entra least privilege + Conditional Access + PIM; Purview labels/DLP/Audit basics; Copilot DLP policy location.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Weeks 5–8: Azure OpenAI security baseline, private endpoints, diagnostics; Content Safety (Prompt Shields, groundedness, protected material).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Weeks 9–12: DSPM for AI workflows; retention/eDiscovery for AI interactions; Sentinel + Defender for Cloud AI SPM/threat protection.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Months 4–6: Foundry observability + evaluation gates in CI/CD; runbooks + verification tests; safety red teaming datasets.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Months 6–12: multi-LLM governance + cross-cloud providers; advanced detection engineering.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52/102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Proof-of-competence artefacts (ship these)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Entra: privileged access design + break-glass + Conditional Access policies for AI admin roles (PIM-guarded JIT).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Copilot: label taxonomy + Copilot DLP policies + Restricted SharePoint Search rollout plan with test evidence.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Azure LLM baseline: private endpoints + MI + diagnostics + content filters + Prompt Shields; Defender posture clean; KQL dashboards.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ops: retention/eDiscovery playbooks for AI interactions (collect/search/delete/preserve evidence).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SOC lane: Sentinel detections + IR runbooks + metrics; correlate Copilot + Azure AI signals.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Quality governance: evaluation harness + regression gates + safety datasets; pipelines block regressions.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53/102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technical teams (engineer governance as a platform)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a central control plane that product teams consume (“paved roads”), not bespoke controls per app.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 an asset registry now and wire it into CI: unregistered models/prompts/tools cannot deploy.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 evaluation gates on every production change: jailbreak, prompt injection, PII leakage, grounding, latency/cost budgets.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 untrusted documents as attacker-controlled code: tool sandboxing, allow-lists, and strict egress constraints.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a GenAI IR playbook with required logs, replay steps, rollback/kill switches; expand regression tests after incidents.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54/102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business leaders (make governance a value lever)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Adopt an operating model aligned to risk appetite: management-system wrapper (ISO/IEC 42001) + risk framework (NIST AI RMF/GenAI Profile).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for EU AI Act timelines if selling into the EU or integrating GPAI into high-impact products: budget for compliance engineering.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 in internal assurance capacity (evals, red teaming, security engineering): vendor attestations are not enough.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Mandate supply-chain transparency for AI features: SBOM/attestations + model/system cards + incident commitments in procurement.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outcomes: reduced incident churn, increased enterprise trust, shorter sales cycles in regulated markets.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55/102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High-Leverage Resources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 and tooling to operationalise governance.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56/102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stack resources (high leverage)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Copilot Control System (Security &amp; Governance pillar) — admin-centric control map.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Foundry Control Plane — fleet governance + guardrail policy enforcement.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Purview DSPM for AI + DLP policy location for Copilot — monitoring + real-time prompt/grounding controls.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Foundry observability + safety evaluations — instrumentation + evaluation direction.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Defender for Cloud AI security posture + AI threat protection — posture + runtime protections integrated with XDR.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Sentinel Copilot data connector (preview Feb 2026) — fast path to SIEM detections.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57/102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governance resources (standards + tools)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11094415" cy="5257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NIST AI RMF 1.0 + NIST GenAI Profile (AI 600-1) — lifecycle outcomes + GenAI action catalogue.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+ GPAI Code of Practice — binding obligations + practical compliance measures.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ISO/IEC 42001 (AIMS) + ISO/IEC 23894 (AI risk management) — auditable management wrapper.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OWASP Top 10 for LLM Apps + MITRE ATLAS — threat modelling taxonomy for GenAI apps.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Tooling: Inspect (eval harness), Garak (security probing), Promptfoo (test-as-code for prompts/agents/RAG).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Provenance/authenticity: NIST synthetic content guidance + C2PA Content Credentials + watermarking approaches.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58/102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49808" y="3291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Full-page captures of both source PDFs (for completeness).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59/102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1/20)</a:t>
            </a:r>
            <a:endParaRPr lang="en-US" sz="1200" dirty="0"/>
          </a:p>
        </p:txBody>
      </p:sp>
      <p:pic>
        <p:nvPicPr>
          <p:cNvPr id="4" name="Image 0" descr="/mnt/data/pdf_pages/msstack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60/102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2/20)</a:t>
            </a:r>
            <a:endParaRPr lang="en-US" sz="1200" dirty="0"/>
          </a:p>
        </p:txBody>
      </p:sp>
      <p:pic>
        <p:nvPicPr>
          <p:cNvPr id="4" name="Image 0" descr="/mnt/data/pdf_pages/msstack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61/102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3/20)</a:t>
            </a:r>
            <a:endParaRPr lang="en-US" sz="1200" dirty="0"/>
          </a:p>
        </p:txBody>
      </p:sp>
      <p:pic>
        <p:nvPicPr>
          <p:cNvPr id="4" name="Image 0" descr="/mnt/data/pdf_pages/msstack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62/102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4/20)</a:t>
            </a:r>
            <a:endParaRPr lang="en-US" sz="1200" dirty="0"/>
          </a:p>
        </p:txBody>
      </p:sp>
      <p:pic>
        <p:nvPicPr>
          <p:cNvPr id="4" name="Image 0" descr="/mnt/data/pdf_pages/msstack_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63/102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5/20)</a:t>
            </a:r>
            <a:endParaRPr lang="en-US" sz="1200" dirty="0"/>
          </a:p>
        </p:txBody>
      </p:sp>
      <p:pic>
        <p:nvPicPr>
          <p:cNvPr id="4" name="Image 0" descr="/mnt/data/pdf_pages/msstack_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64/102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6/20)</a:t>
            </a:r>
            <a:endParaRPr lang="en-US" sz="1200" dirty="0"/>
          </a:p>
        </p:txBody>
      </p:sp>
      <p:pic>
        <p:nvPicPr>
          <p:cNvPr id="4" name="Image 0" descr="/mnt/data/pdf_pages/msstack_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65/102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7/20)</a:t>
            </a:r>
            <a:endParaRPr lang="en-US" sz="1200" dirty="0"/>
          </a:p>
        </p:txBody>
      </p:sp>
      <p:pic>
        <p:nvPicPr>
          <p:cNvPr id="4" name="Image 0" descr="/mnt/data/pdf_pages/msstack_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66/102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8/20)</a:t>
            </a:r>
            <a:endParaRPr lang="en-US" sz="1200" dirty="0"/>
          </a:p>
        </p:txBody>
      </p:sp>
      <p:pic>
        <p:nvPicPr>
          <p:cNvPr id="4" name="Image 0" descr="/mnt/data/pdf_pages/msstack_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67/102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9/20)</a:t>
            </a:r>
            <a:endParaRPr lang="en-US" sz="1200" dirty="0"/>
          </a:p>
        </p:txBody>
      </p:sp>
      <p:pic>
        <p:nvPicPr>
          <p:cNvPr id="4" name="Image 0" descr="/mnt/data/pdf_pages/msstack_p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68/102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10/20)</a:t>
            </a:r>
            <a:endParaRPr lang="en-US" sz="1200" dirty="0"/>
          </a:p>
        </p:txBody>
      </p:sp>
      <p:pic>
        <p:nvPicPr>
          <p:cNvPr id="4" name="Image 0" descr="/mnt/data/pdf_pages/msstack_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69/102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11/20)</a:t>
            </a:r>
            <a:endParaRPr lang="en-US" sz="1200" dirty="0"/>
          </a:p>
        </p:txBody>
      </p:sp>
      <p:pic>
        <p:nvPicPr>
          <p:cNvPr id="4" name="Image 0" descr="/mnt/data/pdf_pages/msstack_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70/102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12/20)</a:t>
            </a:r>
            <a:endParaRPr lang="en-US" sz="1200" dirty="0"/>
          </a:p>
        </p:txBody>
      </p:sp>
      <p:pic>
        <p:nvPicPr>
          <p:cNvPr id="4" name="Image 0" descr="/mnt/data/pdf_pages/msstack_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71/102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13/20)</a:t>
            </a:r>
            <a:endParaRPr lang="en-US" sz="1200" dirty="0"/>
          </a:p>
        </p:txBody>
      </p:sp>
      <p:pic>
        <p:nvPicPr>
          <p:cNvPr id="4" name="Image 0" descr="/mnt/data/pdf_pages/msstack_p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72/102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14/20)</a:t>
            </a:r>
            <a:endParaRPr lang="en-US" sz="1200" dirty="0"/>
          </a:p>
        </p:txBody>
      </p:sp>
      <p:pic>
        <p:nvPicPr>
          <p:cNvPr id="4" name="Image 0" descr="/mnt/data/pdf_pages/msstack_p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73/102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15/20)</a:t>
            </a:r>
            <a:endParaRPr lang="en-US" sz="1200" dirty="0"/>
          </a:p>
        </p:txBody>
      </p:sp>
      <p:pic>
        <p:nvPicPr>
          <p:cNvPr id="4" name="Image 0" descr="/mnt/data/pdf_pages/msstack_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74/102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16/20)</a:t>
            </a:r>
            <a:endParaRPr lang="en-US" sz="1200" dirty="0"/>
          </a:p>
        </p:txBody>
      </p:sp>
      <p:pic>
        <p:nvPicPr>
          <p:cNvPr id="4" name="Image 0" descr="/mnt/data/pdf_pages/msstack_p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75/102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17/20)</a:t>
            </a:r>
            <a:endParaRPr lang="en-US" sz="1200" dirty="0"/>
          </a:p>
        </p:txBody>
      </p:sp>
      <p:pic>
        <p:nvPicPr>
          <p:cNvPr id="4" name="Image 0" descr="/mnt/data/pdf_pages/msstack_p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76/102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18/20)</a:t>
            </a:r>
            <a:endParaRPr lang="en-US" sz="1200" dirty="0"/>
          </a:p>
        </p:txBody>
      </p:sp>
      <p:pic>
        <p:nvPicPr>
          <p:cNvPr id="4" name="Image 0" descr="/mnt/data/pdf_pages/msstack_p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77/102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19/20)</a:t>
            </a:r>
            <a:endParaRPr lang="en-US" sz="1200" dirty="0"/>
          </a:p>
        </p:txBody>
      </p:sp>
      <p:pic>
        <p:nvPicPr>
          <p:cNvPr id="4" name="Image 0" descr="/mnt/data/pdf_pages/msstack_p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78/102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Microsoft Stack report (page 20/20)</a:t>
            </a:r>
            <a:endParaRPr lang="en-US" sz="1200" dirty="0"/>
          </a:p>
        </p:txBody>
      </p:sp>
      <p:pic>
        <p:nvPicPr>
          <p:cNvPr id="4" name="Image 0" descr="/mnt/data/pdf_pages/msstack_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79/102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1/23)</a:t>
            </a:r>
            <a:endParaRPr lang="en-US" sz="1200" dirty="0"/>
          </a:p>
        </p:txBody>
      </p:sp>
      <p:pic>
        <p:nvPicPr>
          <p:cNvPr id="4" name="Image 0" descr="/mnt/data/pdf_pages/genai_p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80/102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2/23)</a:t>
            </a:r>
            <a:endParaRPr lang="en-US" sz="1200" dirty="0"/>
          </a:p>
        </p:txBody>
      </p:sp>
      <p:pic>
        <p:nvPicPr>
          <p:cNvPr id="4" name="Image 0" descr="/mnt/data/pdf_pages/genai_p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81/102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3/23)</a:t>
            </a:r>
            <a:endParaRPr lang="en-US" sz="1200" dirty="0"/>
          </a:p>
        </p:txBody>
      </p:sp>
      <p:pic>
        <p:nvPicPr>
          <p:cNvPr id="4" name="Image 0" descr="/mnt/data/pdf_pages/genai_p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82/102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4/23)</a:t>
            </a:r>
            <a:endParaRPr lang="en-US" sz="1200" dirty="0"/>
          </a:p>
        </p:txBody>
      </p:sp>
      <p:pic>
        <p:nvPicPr>
          <p:cNvPr id="4" name="Image 0" descr="/mnt/data/pdf_pages/genai_p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83/102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5/23)</a:t>
            </a:r>
            <a:endParaRPr lang="en-US" sz="1200" dirty="0"/>
          </a:p>
        </p:txBody>
      </p:sp>
      <p:pic>
        <p:nvPicPr>
          <p:cNvPr id="4" name="Image 0" descr="/mnt/data/pdf_pages/genai_p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84/102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6/23)</a:t>
            </a:r>
            <a:endParaRPr lang="en-US" sz="1200" dirty="0"/>
          </a:p>
        </p:txBody>
      </p:sp>
      <p:pic>
        <p:nvPicPr>
          <p:cNvPr id="4" name="Image 0" descr="/mnt/data/pdf_pages/genai_p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85/102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7/23)</a:t>
            </a:r>
            <a:endParaRPr lang="en-US" sz="1200" dirty="0"/>
          </a:p>
        </p:txBody>
      </p:sp>
      <p:pic>
        <p:nvPicPr>
          <p:cNvPr id="4" name="Image 0" descr="/mnt/data/pdf_pages/genai_p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86/102</a:t>
            </a:r>
            <a:endParaRPr lang="en-US" sz="10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8/23)</a:t>
            </a:r>
            <a:endParaRPr lang="en-US" sz="1200" dirty="0"/>
          </a:p>
        </p:txBody>
      </p:sp>
      <p:pic>
        <p:nvPicPr>
          <p:cNvPr id="4" name="Image 0" descr="/mnt/data/pdf_pages/genai_p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87/102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9/23)</a:t>
            </a:r>
            <a:endParaRPr lang="en-US" sz="1200" dirty="0"/>
          </a:p>
        </p:txBody>
      </p:sp>
      <p:pic>
        <p:nvPicPr>
          <p:cNvPr id="4" name="Image 0" descr="/mnt/data/pdf_pages/genai_p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88/102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10/23)</a:t>
            </a:r>
            <a:endParaRPr lang="en-US" sz="1200" dirty="0"/>
          </a:p>
        </p:txBody>
      </p:sp>
      <p:pic>
        <p:nvPicPr>
          <p:cNvPr id="4" name="Image 0" descr="/mnt/data/pdf_pages/genai_p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89/102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11/23)</a:t>
            </a:r>
            <a:endParaRPr lang="en-US" sz="1200" dirty="0"/>
          </a:p>
        </p:txBody>
      </p:sp>
      <p:pic>
        <p:nvPicPr>
          <p:cNvPr id="4" name="Image 0" descr="/mnt/data/pdf_pages/genai_p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90/102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12/23)</a:t>
            </a:r>
            <a:endParaRPr lang="en-US" sz="1200" dirty="0"/>
          </a:p>
        </p:txBody>
      </p:sp>
      <p:pic>
        <p:nvPicPr>
          <p:cNvPr id="4" name="Image 0" descr="/mnt/data/pdf_pages/genai_p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91/102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13/23)</a:t>
            </a:r>
            <a:endParaRPr lang="en-US" sz="1200" dirty="0"/>
          </a:p>
        </p:txBody>
      </p:sp>
      <p:pic>
        <p:nvPicPr>
          <p:cNvPr id="4" name="Image 0" descr="/mnt/data/pdf_pages/genai_p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92/102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14/23)</a:t>
            </a:r>
            <a:endParaRPr lang="en-US" sz="1200" dirty="0"/>
          </a:p>
        </p:txBody>
      </p:sp>
      <p:pic>
        <p:nvPicPr>
          <p:cNvPr id="4" name="Image 0" descr="/mnt/data/pdf_pages/genai_p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93/102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15/23)</a:t>
            </a:r>
            <a:endParaRPr lang="en-US" sz="1200" dirty="0"/>
          </a:p>
        </p:txBody>
      </p:sp>
      <p:pic>
        <p:nvPicPr>
          <p:cNvPr id="4" name="Image 0" descr="/mnt/data/pdf_pages/genai_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94/102</a:t>
            </a:r>
            <a:endParaRPr lang="en-US" sz="1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16/23)</a:t>
            </a:r>
            <a:endParaRPr lang="en-US" sz="1200" dirty="0"/>
          </a:p>
        </p:txBody>
      </p:sp>
      <p:pic>
        <p:nvPicPr>
          <p:cNvPr id="4" name="Image 0" descr="/mnt/data/pdf_pages/genai_p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95/102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17/23)</a:t>
            </a:r>
            <a:endParaRPr lang="en-US" sz="1200" dirty="0"/>
          </a:p>
        </p:txBody>
      </p:sp>
      <p:pic>
        <p:nvPicPr>
          <p:cNvPr id="4" name="Image 0" descr="/mnt/data/pdf_pages/genai_p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96/102</a:t>
            </a:r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18/23)</a:t>
            </a:r>
            <a:endParaRPr lang="en-US" sz="1200" dirty="0"/>
          </a:p>
        </p:txBody>
      </p:sp>
      <p:pic>
        <p:nvPicPr>
          <p:cNvPr id="4" name="Image 0" descr="/mnt/data/pdf_pages/genai_p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97/102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19/23)</a:t>
            </a:r>
            <a:endParaRPr lang="en-US" sz="1200" dirty="0"/>
          </a:p>
        </p:txBody>
      </p:sp>
      <p:pic>
        <p:nvPicPr>
          <p:cNvPr id="4" name="Image 0" descr="/mnt/data/pdf_pages/genai_p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98/102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20/23)</a:t>
            </a:r>
            <a:endParaRPr lang="en-US" sz="1200" dirty="0"/>
          </a:p>
        </p:txBody>
      </p:sp>
      <p:pic>
        <p:nvPicPr>
          <p:cNvPr id="4" name="Image 0" descr="/mnt/data/pdf_pages/genai_p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99/102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21/23)</a:t>
            </a:r>
            <a:endParaRPr lang="en-US" sz="1200" dirty="0"/>
          </a:p>
        </p:txBody>
      </p:sp>
      <p:pic>
        <p:nvPicPr>
          <p:cNvPr id="4" name="Image 0" descr="/mnt/data/pdf_pages/genai_p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100/102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22/23)</a:t>
            </a:r>
            <a:endParaRPr lang="en-US" sz="1200" dirty="0"/>
          </a:p>
        </p:txBody>
      </p:sp>
      <p:pic>
        <p:nvPicPr>
          <p:cNvPr id="4" name="Image 0" descr="/mnt/data/pdf_pages/genai_p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101/102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B3D91"/>
          </a:solidFill>
          <a:ln w="12700">
            <a:solidFill>
              <a:srgbClr val="0B3D9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GenAI governance report (page 23/23)</a:t>
            </a:r>
            <a:endParaRPr lang="en-US" sz="1200" dirty="0"/>
          </a:p>
        </p:txBody>
      </p:sp>
      <p:pic>
        <p:nvPicPr>
          <p:cNvPr id="4" name="Image 0" descr="/mnt/data/pdf_pages/genai_p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11274552" cy="5897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6547104"/>
            <a:ext cx="1146017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65653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— Microsoft Stack + GenAI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185855" y="656539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102/102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 for GenAI in the Microsoft Stack</dc:title>
  <dc:subject>AI governance (Microsoft stack + GenAI)</dc:subject>
  <dc:creator>ChatGPT (OpenAI)</dc:creator>
  <cp:lastModifiedBy>ChatGPT (OpenAI)</cp:lastModifiedBy>
  <cp:revision>1</cp:revision>
  <dcterms:created xsi:type="dcterms:W3CDTF">2026-02-23T06:38:44Z</dcterms:created>
  <dcterms:modified xsi:type="dcterms:W3CDTF">2026-02-23T06:38:44Z</dcterms:modified>
</cp:coreProperties>
</file>