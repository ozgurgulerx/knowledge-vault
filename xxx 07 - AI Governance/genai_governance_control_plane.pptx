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"Technical analysis of AI governance for generative AI", Executive summary (p.1).
- Shield outline icon derived from Ionicons (MIT) path definition as reproduced on SVGViewer: https://www.svgviewer.dev/s/37757/shield-outline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Executive summary (p.1).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Definition/scope and GenAI system components (p.2).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Incident analyses and examples (p.2–3).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Definition and scope; scope elements (p.2).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Governance architecture (Build / Run / Observe) (p.3–4).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Asset inventory and risk tiering section (p.4–5).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Data governance for GenAI; governed RAG patterns and metrics (p.5).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Identity/access controls and secure tool use (p.5–6); indirect prompt injection discussion (p.3).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Evaluation, metrics, and red-teaming (p.6).
- User-provided PDF: Tooling playbook (Inspect/Garak/Promptfoo) (p.16).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Safety layers and content policy enforcement (p.6–7).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Provenance, watermarking, and content authenticity (p.7–8).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Secure deployment, DevSecOps, SRE, incident response (p.9).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Regulatory and policy timeline (p.1, p.9–10).
- User-provided PDF: Frameworks/standards references (p.10–15).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Actionable recommendations (p.18–19).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1051560"/>
            <a:ext cx="9464040" cy="858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for Generative AI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1955800"/>
            <a:ext cx="9235440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policy theatre to an executable control plane (technical patterns, metrics, and ops)</a:t>
            </a:r>
            <a:endParaRPr lang="en-US" sz="1800" dirty="0"/>
          </a:p>
        </p:txBody>
      </p:sp>
      <p:pic>
        <p:nvPicPr>
          <p:cNvPr id="19" name="Image 0" descr="/mnt/data/shield_ou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502920"/>
            <a:ext cx="914400" cy="9144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" y="5074920"/>
            <a:ext cx="108813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285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55595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GenAI governance must be engineered as a lifecycle control plane: inventory → evaluation gates → runtime enforcement → traceability → incident response.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770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GenAI governance actually 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7381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rights + technical assurance that makes risk measurable and auditable.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3949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=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decision rights, controls, measurements, and escalation mechanisms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ensure systems behave within risk appetite while meeting legal/security/safety/quality objectives.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twist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407408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probabilistic and prompt-programmable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is shaped by data + tools (RAG/agents) + runtime context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must be end-to-end: build → deploy → observe → respond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5056632" cy="4251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0574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governance stack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29400" y="2514600"/>
            <a:ext cx="459943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62432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58200" y="26243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prompts, data, tools, endpoints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3044952"/>
            <a:ext cx="459943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31546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31546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classification + required controls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3575304"/>
            <a:ext cx="459943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368503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3685032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• safety • security • privacy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4105656"/>
            <a:ext cx="459943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42153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4215384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enforcement and tool mediation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4636008"/>
            <a:ext cx="459943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4745736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58200" y="474573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prompt/response + retrieval + tool traces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5166360"/>
            <a:ext cx="459943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5276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integrity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52760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/ ML-BOM + provenance attestations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5696712"/>
            <a:ext cx="459943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5806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58064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GenAI-specific forensics + rollback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PREMISE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770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 governance is different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7381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only one component; the system behavior is emergent.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251460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251460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• training dist. • post-training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965960"/>
            <a:ext cx="2514600" cy="9601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965960"/>
            <a:ext cx="25146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• policies • tool routing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514600" cy="960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965960"/>
            <a:ext cx="25146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corpora • enterprise docs • feedback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1965960"/>
            <a:ext cx="2514600" cy="960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1965960"/>
            <a:ext cx="25146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permissions • environment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246120"/>
            <a:ext cx="1097280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429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governance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84048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must cover the whole system surface: retrieval corpora, tool inputs, and runtime privileges are part of the “programmable interface”.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gate changes end-to-end: data updates, prompt/template edits, tool wiring, and model versioning.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governance as continuous assurance: observe drift, misuse, cost, and safety KPIs; respond with rollback + regression tests.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770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show why governance must be technical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7381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 is rarely “the model made a mistake” — it’s missing controls.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20240"/>
            <a:ext cx="73152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21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→ liability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5786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 chatbot gave wrong policy info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responsibility stayed with the organisation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governed knowledge base + monitoring + regression gates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73952" y="192024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192024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2121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tuning → new failure modes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02552" y="25786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paused after sensitive output failures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mitigation created historical/representational errors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“safety” must be scenario-based + measurable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43484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434840"/>
            <a:ext cx="73152" cy="2011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6360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media → enforcement 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0932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deepfakes used in election-related robocalls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provenance and disclosure obligations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must extend into comms &amp; media supply chain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73952" y="443484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434840"/>
            <a:ext cx="73152" cy="2011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46360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 (RAG/agents)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02552" y="50932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embedded in retrieved content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security model: corpora &amp; tool inputs are untrusted code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tool isolation, least privilege, traceability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1051560"/>
            <a:ext cx="10698480" cy="144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what must be governed (end-to-end)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2540000"/>
            <a:ext cx="10332720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scope is broader than “the model”: system • data • ops • supply chain.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3657600" cy="13898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246120"/>
            <a:ext cx="36576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472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governance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377647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controls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injection/tool misuse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occurs here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61688" y="3246120"/>
            <a:ext cx="3657600" cy="13898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1688" y="3246120"/>
            <a:ext cx="36576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4472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90288" y="377647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• tuning • release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System/model cards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Deprecation/rollback rules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9016" y="3246120"/>
            <a:ext cx="3657600" cy="13898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9016" y="3246120"/>
            <a:ext cx="36576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34472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57616" y="377647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&amp; legality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PII/sensitive controls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RAG corpora like datasets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4754880"/>
            <a:ext cx="3657600" cy="13898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4754880"/>
            <a:ext cx="36576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956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governance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" y="528523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• logging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cost controls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post-mortems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61688" y="4754880"/>
            <a:ext cx="3657600" cy="13898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61688" y="4754880"/>
            <a:ext cx="36576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4956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governance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90288" y="528523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SBOM/attestations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ML-BOM concepts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integrity &amp; auditability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152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= organisational governance + technical assurance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PATTERN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126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architecture: build a lifecycle control plane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7038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policy enforcement, and traceability as first-class services.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361188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361188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414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change control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registration &amp; risk tiering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governance: lineage, consent, PII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/ fine-tune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evaluation gate (quality/safety/security/privacy)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artefacts: system card + policy package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supply chain: SBOM/ML-BOM + attestations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90288" y="2240280"/>
            <a:ext cx="3611880" cy="43891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240280"/>
            <a:ext cx="361188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24414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 plane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18888" y="288036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policy gateway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+ tool router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endpoint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&amp; safety layers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logging &amp; audit (every hop)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49056" y="2240280"/>
            <a:ext cx="3611880" cy="4389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2240280"/>
            <a:ext cx="361188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0224" y="24414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assurance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77656" y="288036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safety KPIs, drift, misuse, cost, latency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red-teaming &amp; regression tests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response: triage, containment, rollback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into evaluation suites &amp; risk tiering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443484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02168" y="443484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770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#1: Asset inventory + risk tiering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7381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govern what you cannot enumerate.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5778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inventory (GenAI)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Model(s)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/ templates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/ safety package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corpora (RAG)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actions (agent permissions)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(who can call)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classes (PII/sensitive)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+ change rights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5047488"/>
            <a:ext cx="5120640" cy="12344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5184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pattern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545896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CI/CD enforcement (no deploy without entry) • move towards ML‑BOM / AI‑BOM concepts for models + datasets.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331720"/>
            <a:ext cx="4965192" cy="4526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KPIs (practical)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20840" y="2606040"/>
            <a:ext cx="452628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71576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41080" y="27157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GenAI apps/endpoints registered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3429000"/>
            <a:ext cx="452628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538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Change-control compliance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41080" y="353872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changes with approvals + gates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4251960"/>
            <a:ext cx="452628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3616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Time-to-trace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41080" y="436168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prompt → retrieval → model/data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5074920"/>
            <a:ext cx="452628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518464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SLA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41080" y="51846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changes require stronger evidence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5715000"/>
            <a:ext cx="452628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58978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leverage: cost allocation + audit readiness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126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#2: Data governance (training + retrieval + feedback)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7038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GenAI risk is data risk — and RAG corpora are part of the attack surface.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80644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RAG pattern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3017520"/>
            <a:ext cx="544068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31455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63240" y="314553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• licensing/consent • PII handling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3840480"/>
            <a:ext cx="544068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39684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versioning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63240" y="396849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• snapshots • rollbackable releases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4663440"/>
            <a:ext cx="544068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4791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Retrieval-time ACL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63240" y="4791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identity-bound access controls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5486400"/>
            <a:ext cx="544068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56144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logging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63240" y="561441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retrieved chunks + tool calls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60990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retrieval corpus like untrusted input: it can be poisoned, sensitive, or adversarial.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2331720"/>
            <a:ext cx="473659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331720"/>
            <a:ext cx="73152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5328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2990088"/>
            <a:ext cx="43251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 rate (tested)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ACL violation rate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completeness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resilience tests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4709160"/>
            <a:ext cx="473659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470916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491032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5367528"/>
            <a:ext cx="43251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vs agility tension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logs raise privacy + storage costs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retention + access control + (often) redaction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1051560"/>
            <a:ext cx="10698480" cy="144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#3: Identity + secure tool use (the “blast radius” knob)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2540000"/>
            <a:ext cx="10332720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catastrophic failures happen when the LLM can act or exfiltrate.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6492240" cy="3977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policy gateway mediates every tool call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3520440"/>
            <a:ext cx="14173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721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0" y="3337560"/>
            <a:ext cx="14173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5387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policy gateway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520440"/>
            <a:ext cx="14173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21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3520440"/>
            <a:ext cx="141732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721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APIs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0" y="3867912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26280" y="3867912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0" y="3867912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761488" y="4069080"/>
            <a:ext cx="3520440" cy="2377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4224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enforcement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971800" y="45262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credentials (no high-priv keys in the model)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Capability-based permissions (per-user/per-session)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 for high-impact actions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untrusted parsers/browsers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egress constraints + allowlists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52360" y="2743200"/>
            <a:ext cx="4005072" cy="3977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class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80960" y="32278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80960" y="361188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embedded in retrieved data steer the system without direct prompt access.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corpora + tool inputs like untrusted code.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680960" y="50932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680960" y="534924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tool-call rate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success rate (red team)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revoke/rotate creds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126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#4: Evaluation + red-teaming (turn intent into gates)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7038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evaluation: quality • safety • security • privacy • ops.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09728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gate: no deploy if KPIs regress beyond thresholds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242316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953512"/>
            <a:ext cx="2423160" cy="91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181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325069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03320" y="2953512"/>
            <a:ext cx="2423160" cy="5943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953512"/>
            <a:ext cx="242316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1181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25069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2953512"/>
            <a:ext cx="242316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953512"/>
            <a:ext cx="24231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1181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rules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325069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2953512"/>
            <a:ext cx="2423160" cy="594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953512"/>
            <a:ext cx="242316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1181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5623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023360"/>
            <a:ext cx="73152" cy="2834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evaluation suites by risk scenario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681728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Misinformation, fraud, and high-impact advice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 + prompt injection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 + sensitive info disclosure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grounding/faithfulness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budgets: latency/cost/tool-error rates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4023360"/>
            <a:ext cx="5074920" cy="2834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(baseline)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0" y="4663440"/>
            <a:ext cx="109728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4736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2440" y="4663440"/>
            <a:ext cx="109728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4736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89720" y="4663440"/>
            <a:ext cx="109728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4736592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50749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one general eval harness + one vulnerability probing suite, then wire tests into CI as living assets that grow after incidents.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58000" y="58978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 examples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614476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 rate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success rate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 rate</a:t>
            </a:r>
            <a:endParaRPr lang="en-US" sz="11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Grounding/faithfulness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126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#5: Safety layers + policy-as-code (defence-in-depth)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7038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 not enough — production safety is a layered stack.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5806440" cy="4160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43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safety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3246120"/>
            <a:ext cx="534924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46120"/>
            <a:ext cx="73152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10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Pre-prompt policies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959352"/>
            <a:ext cx="53492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959352"/>
            <a:ext cx="73152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239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672584"/>
            <a:ext cx="534924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672584"/>
            <a:ext cx="73152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371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Model-level safety 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5385816"/>
            <a:ext cx="53492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5385816"/>
            <a:ext cx="73152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504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6099048"/>
            <a:ext cx="534924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6099048"/>
            <a:ext cx="73152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6263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validation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647395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policies as versioned artifacts ("safety package")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2331720"/>
            <a:ext cx="473659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0840" y="2331720"/>
            <a:ext cx="73152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25328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matter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2990088"/>
            <a:ext cx="43251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rate vs unsafe acceptance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Safety-layer override rate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delta before/after policy change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4709160"/>
            <a:ext cx="473659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470916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491032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to avoid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5367528"/>
            <a:ext cx="43251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Over-restrictive filters → user churn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filters → bypassable “security theatre”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must be tested adversarially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1051560"/>
            <a:ext cx="10698480" cy="144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#6: Provenance + authenticity (especially for media)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2540000"/>
            <a:ext cx="10332720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needs technical mechanisms for origin, integrity, and traceability.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2331720"/>
            <a:ext cx="10972800" cy="3749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0175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internal provenance chain (even if public metadata is stripped)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3703320"/>
            <a:ext cx="18288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703320"/>
            <a:ext cx="182880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51760" y="40919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889504" y="3703320"/>
            <a:ext cx="18288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9504" y="3703320"/>
            <a:ext cx="18288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18304" y="40919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56048" y="3703320"/>
            <a:ext cx="18288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3703320"/>
            <a:ext cx="18288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package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84848" y="40919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022592" y="3703320"/>
            <a:ext cx="18288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22592" y="3703320"/>
            <a:ext cx="18288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hashes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851392" y="40919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089136" y="3703320"/>
            <a:ext cx="18288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9136" y="3703320"/>
            <a:ext cx="182880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89136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05840" y="4572000"/>
            <a:ext cx="52120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5840" y="4572000"/>
            <a:ext cx="73152" cy="1828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34440" y="47731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mechanisms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34440" y="5230368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metadata (e.g., C2PA-style claims)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logs and audit trails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disclosure + retention + access rules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4572000"/>
            <a:ext cx="52120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92240" y="4572000"/>
            <a:ext cx="73152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47731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Watermarking &amp; detection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20840" y="5230368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signals in outputs (threat-modelled)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robustness under transforms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multi-channel strategy: provenance +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126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#7: Secure deployment + GenAI incident response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7038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model/prompt artifacts like binaries; build rollbackable operations.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623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31720"/>
            <a:ext cx="73152" cy="2331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328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patterns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990088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provenance attestations integrated into CI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model artifacts (weights/adapters/prompt packages)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 to enable deterministic replay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5623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846320"/>
            <a:ext cx="73152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0474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GenAI-specific incident response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5504688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Prompt/response forensics + retrieval traceability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rollback / kill-switches for tools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Post-incident: expand eval suite to prevent recurrence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2331720"/>
            <a:ext cx="507492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5146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KPIs (evidence)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880360"/>
            <a:ext cx="46177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/ MTTR for GenAI incidents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rate (can we replay exact context?)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 after model/prompt updates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anomaly detection accuracy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revoke/rotate credentials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5029200"/>
            <a:ext cx="4617720" cy="17373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1846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requirements (minimum)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54864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• policy version • retrieval trace • tool calls • model version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DRIVERS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10698480" cy="770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+ standards landscape (2024–2026)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73810"/>
            <a:ext cx="1033272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converging on documented controls + measurable 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0972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57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3429000"/>
            <a:ext cx="10515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3319272"/>
            <a:ext cx="219456" cy="21945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307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OMB M‑24‑10: minimum practices + governance requirements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3319272"/>
            <a:ext cx="219456" cy="2194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365760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37307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GenAI Profile (AI 600‑1): GenAI risk 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31927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65760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7307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enters into force (phased obligations)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3319272"/>
            <a:ext cx="219456" cy="21945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365760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7307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Act: GPAI obligations apply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81160" y="331927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78240" y="365760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37307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becomes broadly applicable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800600"/>
            <a:ext cx="10972800" cy="1965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983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to engineering work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53949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requirements to harden around: documentation, evaluation evidence, and runtime controls for high-impact/GPAI integrations.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2025–2026 as compliance engineering lead time: build logging/auditability now to avoid retrofits.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frameworks (NIST AI RMF + GenAI Profile / ISO 42001) into concrete pipelines + KPIs.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12700">
            <a:solidFill>
              <a:srgbClr val="1F2A4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1051560"/>
            <a:ext cx="10698480" cy="858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high-leverage plan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1955800"/>
            <a:ext cx="10332720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paved roads: automated defaults, measurable gates, and fast rollback.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5577840" cy="3108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926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 (LLMOps + DevSecOps)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154680"/>
            <a:ext cx="5303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asset registry + CI enforcement (models, prompts, tools, corpora)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evaluation gate: safety + injection + PII + grounding + budgets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gateway for tool calls + least privilege + sandboxing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incident response playbook + logging minimums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incident: add regression tests to stop recurrence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2743200"/>
            <a:ext cx="5074920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926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leaders (risk + product)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operating model (risk-tiered controls; auditable wrapper if needed)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assurance capacity: eval + red teaming + security engineering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Procurement: require SBOM/attestations + AI documentation from vendors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now for EU AI Act 2025–2026 documentation/evidence expectations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governance as a value lever: trust reduces churn &amp; shortens sales cycles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6355080"/>
            <a:ext cx="10972800" cy="411480"/>
          </a:xfrm>
          <a:prstGeom prst="roundRect">
            <a:avLst/>
          </a:prstGeom>
          <a:solidFill>
            <a:srgbClr val="14B8A6">
              <a:alpha val="9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safety, security, and compliance *boringly automatic*.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2026-02-23T05:39:26Z</dcterms:created>
  <dcterms:modified xsi:type="dcterms:W3CDTF">2026-02-23T05:39:26Z</dcterms:modified>
</cp:coreProperties>
</file>